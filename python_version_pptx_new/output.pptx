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7620000" cy="1905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0F5FA"/>
        </a:solidFill>
        <a:effectLst/>
      </p:bgPr>
    </p:bg>
    <p:spTree>
      <p:nvGrpSpPr>
        <p:cNvPr id="1" name=""/>
        <p:cNvGrpSpPr/>
        <p:nvPr/>
      </p:nvGrpSpPr>
      <p:grpSpPr/>
      <p:sp>
        <p:nvSpPr>
          <p:cNvPr id="2" name="Rectangle 1"/>
          <p:cNvSpPr/>
          <p:nvPr/>
        </p:nvSpPr>
        <p:spPr>
          <a:xfrm>
            <a:off x="129294" y="300068"/>
            <a:ext cx="7361412" cy="226594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ictureLogo.png"/>
          <p:cNvPicPr>
            <a:picLocks noChangeAspect="1"/>
          </p:cNvPicPr>
          <p:nvPr/>
        </p:nvPicPr>
        <p:blipFill>
          <a:blip r:embed="rId2"/>
          <a:stretch>
            <a:fillRect/>
          </a:stretch>
        </p:blipFill>
        <p:spPr>
          <a:xfrm>
            <a:off x="129294" y="311007"/>
            <a:ext cx="1072462" cy="1201987"/>
          </a:xfrm>
          <a:prstGeom prst="rect">
            <a:avLst/>
          </a:prstGeom>
        </p:spPr>
      </p:pic>
      <p:pic>
        <p:nvPicPr>
          <p:cNvPr id="4" name="Picture 3" descr="PictureShield.png"/>
          <p:cNvPicPr>
            <a:picLocks noChangeAspect="1"/>
          </p:cNvPicPr>
          <p:nvPr/>
        </p:nvPicPr>
        <p:blipFill>
          <a:blip r:embed="rId3"/>
          <a:stretch>
            <a:fillRect/>
          </a:stretch>
        </p:blipFill>
        <p:spPr>
          <a:xfrm>
            <a:off x="6761525" y="462339"/>
            <a:ext cx="638880" cy="899321"/>
          </a:xfrm>
          <a:prstGeom prst="rect">
            <a:avLst/>
          </a:prstGeom>
        </p:spPr>
      </p:pic>
      <p:sp>
        <p:nvSpPr>
          <p:cNvPr id="5" name="Rectangle 4"/>
          <p:cNvSpPr/>
          <p:nvPr/>
        </p:nvSpPr>
        <p:spPr>
          <a:xfrm>
            <a:off x="-134306" y="18432419"/>
            <a:ext cx="7888611" cy="757937"/>
          </a:xfrm>
          <a:prstGeom prst="rect">
            <a:avLst/>
          </a:prstGeom>
          <a:solidFill>
            <a:srgbClr val="5F90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2460" y="503130"/>
            <a:ext cx="6096000" cy="820738"/>
          </a:xfrm>
          <a:prstGeom prst="rect">
            <a:avLst/>
          </a:prstGeom>
          <a:noFill/>
        </p:spPr>
        <p:txBody>
          <a:bodyPr wrap="square">
            <a:noAutofit/>
          </a:bodyPr>
          <a:lstStyle/>
          <a:p>
            <a:pPr rtl="1" algn="ctr">
              <a:lnSpc>
                <a:spcPts val="6400"/>
              </a:lnSpc>
            </a:pPr>
            <a:r>
              <a:rPr sz="6400" b="1" lang="he-IL">
                <a:solidFill>
                  <a:srgbClr val="1E2E5D"/>
                </a:solidFill>
                <a:latin typeface="Choco Bold"/>
                <a:cs typeface="Choco Bold"/>
                <a:ea typeface="Choco Bold"/>
              </a:rPr>
              <a:t>מה חדש ב</a:t>
            </a:r>
            <a:r>
              <a:rPr sz="6400" b="1" lang="en-US">
                <a:solidFill>
                  <a:srgbClr val="1E2E5D"/>
                </a:solidFill>
                <a:latin typeface="Cascadia Mono SemiBold"/>
                <a:cs typeface="Cascadia Mono SemiBold"/>
                <a:ea typeface="Cascadia Mono SemiBold"/>
              </a:rPr>
              <a:t>SAP</a:t>
            </a:r>
            <a:r>
              <a:rPr sz="6400" b="1" lang="ar-EG">
                <a:solidFill>
                  <a:srgbClr val="1E2E5D"/>
                </a:solidFill>
                <a:latin typeface="Choco Bold"/>
                <a:cs typeface="Choco Bold"/>
                <a:ea typeface="Choco Bold"/>
              </a:rPr>
              <a:t>?</a:t>
            </a:r>
          </a:p>
        </p:txBody>
      </p:sp>
      <p:sp>
        <p:nvSpPr>
          <p:cNvPr id="7" name="TextBox 6"/>
          <p:cNvSpPr txBox="1"/>
          <p:nvPr/>
        </p:nvSpPr>
        <p:spPr>
          <a:xfrm>
            <a:off x="683920" y="1479693"/>
            <a:ext cx="6096000" cy="589905"/>
          </a:xfrm>
          <a:prstGeom prst="rect">
            <a:avLst/>
          </a:prstGeom>
          <a:noFill/>
        </p:spPr>
        <p:txBody>
          <a:bodyPr wrap="square">
            <a:noAutofit/>
          </a:bodyPr>
          <a:lstStyle/>
          <a:p>
            <a:pPr rtl="1" algn="ctr">
              <a:lnSpc>
                <a:spcPts val="2300"/>
              </a:lnSpc>
            </a:pPr>
            <a:r>
              <a:rPr sz="2300" b="1" lang="he-IL">
                <a:solidFill>
                  <a:srgbClr val="3A4F8B"/>
                </a:solidFill>
                <a:latin typeface="Segoe UI"/>
                <a:cs typeface="Segoe UI"/>
                <a:ea typeface="Segoe UI"/>
              </a:rPr>
              <a:t>גרסת אוגוסט </a:t>
            </a:r>
            <a:r>
              <a:rPr sz="2300" b="1" lang="en-US">
                <a:solidFill>
                  <a:srgbClr val="3A4F8B"/>
                </a:solidFill>
                <a:latin typeface="Segoe UI"/>
                <a:cs typeface="Segoe UI"/>
                <a:ea typeface="Segoe UI"/>
              </a:rPr>
              <a:t>2026</a:t>
            </a:r>
            <a:r>
              <a:rPr sz="2300" b="1" lang="he-IL">
                <a:solidFill>
                  <a:srgbClr val="3A4F8B"/>
                </a:solidFill>
                <a:latin typeface="Segoe UI"/>
                <a:cs typeface="Segoe UI"/>
                <a:ea typeface="Segoe UI"/>
              </a:rPr>
              <a:t> - מועד עליה 16/9/26</a:t>
            </a:r>
            <a:r>
              <a:rPr sz="2300" b="1" lang="ar-EG">
                <a:solidFill>
                  <a:srgbClr val="3A4F8B"/>
                </a:solidFill>
                <a:latin typeface="Segoe UI"/>
                <a:cs typeface="Segoe UI"/>
                <a:ea typeface="Segoe UI"/>
              </a:rPr>
              <a:t> </a:t>
            </a:r>
            <a:r>
              <a:rPr sz="2300" b="1" lang="he-IL">
                <a:solidFill>
                  <a:srgbClr val="68BBE3"/>
                </a:solidFill>
                <a:latin typeface="Segoe UI"/>
                <a:cs typeface="Segoe UI"/>
                <a:ea typeface="Segoe UI"/>
              </a:rPr>
              <a:t>
מדור מע”מ</a:t>
            </a:r>
          </a:p>
        </p:txBody>
      </p:sp>
      <p:sp>
        <p:nvSpPr>
          <p:cNvPr id="8" name="TextBox 7"/>
          <p:cNvSpPr txBox="1"/>
          <p:nvPr/>
        </p:nvSpPr>
        <p:spPr>
          <a:xfrm>
            <a:off x="684575" y="2139975"/>
            <a:ext cx="6096000" cy="261867"/>
          </a:xfrm>
          <a:prstGeom prst="rect">
            <a:avLst/>
          </a:prstGeom>
          <a:noFill/>
        </p:spPr>
        <p:txBody>
          <a:bodyPr wrap="square">
            <a:noAutofit/>
          </a:bodyPr>
          <a:lstStyle/>
          <a:p>
            <a:pPr rtl="1" algn="ctr"/>
            <a:r>
              <a:rPr sz="1400" b="1" lang="he-IL">
                <a:solidFill>
                  <a:srgbClr val="3A4F8B"/>
                </a:solidFill>
                <a:latin typeface="Segoe UI"/>
                <a:cs typeface="Segoe UI"/>
                <a:ea typeface="Segoe UI"/>
              </a:rPr>
              <a:t>גרסאות עתידיות 21/10/26 + 7/10/26</a:t>
            </a:r>
          </a:p>
        </p:txBody>
      </p:sp>
      <p:sp>
        <p:nvSpPr>
          <p:cNvPr id="9" name="TextBox 8"/>
          <p:cNvSpPr txBox="1"/>
          <p:nvPr/>
        </p:nvSpPr>
        <p:spPr>
          <a:xfrm>
            <a:off x="0" y="18570540"/>
            <a:ext cx="7620000" cy="296235"/>
          </a:xfrm>
          <a:prstGeom prst="rect">
            <a:avLst/>
          </a:prstGeom>
          <a:noFill/>
        </p:spPr>
        <p:txBody>
          <a:bodyPr wrap="square">
            <a:noAutofit/>
          </a:bodyPr>
          <a:lstStyle/>
          <a:p>
            <a:pPr rtl="1" algn="ctr"/>
            <a:r>
              <a:rPr sz="1700" b="1" lang="he-IL">
                <a:solidFill>
                  <a:srgbClr val="FFFFFF"/>
                </a:solidFill>
                <a:latin typeface="Guttman Yad-Brush"/>
                <a:cs typeface="Guttman Yad-Brush"/>
                <a:ea typeface="Guttman Yad-Brush"/>
              </a:rPr>
              <a:t>כשטכנולוגיה פוגשת אנשים</a:t>
            </a:r>
          </a:p>
        </p:txBody>
      </p:sp>
      <p:sp>
        <p:nvSpPr>
          <p:cNvPr id="10" name="TextBox 9"/>
          <p:cNvSpPr txBox="1"/>
          <p:nvPr/>
        </p:nvSpPr>
        <p:spPr>
          <a:xfrm>
            <a:off x="218909" y="2769217"/>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כללי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הוספת לוג להחזרה למיון</a:t>
            </a:r>
          </a:p>
        </p:txBody>
      </p:sp>
      <p:sp>
        <p:nvSpPr>
          <p:cNvPr id="11" name="TextBox 10"/>
          <p:cNvSpPr txBox="1"/>
          <p:nvPr/>
        </p:nvSpPr>
        <p:spPr>
          <a:xfrm>
            <a:off x="539083" y="3160502"/>
            <a:ext cx="5143320"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הוספת לוג המראה איזה משתמש הריץ "החזרה למיון" ועל איזה חיילים למען תיעוד הפעולה.</a:t>
            </a:r>
          </a:p>
        </p:txBody>
      </p:sp>
      <p:cxnSp>
        <p:nvCxnSpPr>
          <p:cNvPr id="12" name="Connector 11"/>
          <p:cNvCxnSpPr/>
          <p:nvPr/>
        </p:nvCxnSpPr>
        <p:spPr>
          <a:xfrm>
            <a:off x="6323881" y="3438646"/>
            <a:ext cx="0" cy="748753"/>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60308" y="4163587"/>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16" name="Group 15"/>
          <p:cNvGrpSpPr/>
          <p:nvPr/>
        </p:nvGrpSpPr>
        <p:grpSpPr>
          <a:xfrm>
            <a:off x="5895762" y="3384903"/>
            <a:ext cx="856239" cy="856239"/>
            <a:chOff x="5895762" y="3384903"/>
            <a:chExt cx="856239" cy="856239"/>
          </a:xfrm>
        </p:grpSpPr>
        <p:sp>
          <p:nvSpPr>
            <p:cNvPr id="14" name="Oval 13"/>
            <p:cNvSpPr/>
            <p:nvPr/>
          </p:nvSpPr>
          <p:spPr>
            <a:xfrm>
              <a:off x="5895762" y="3384903"/>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5762" y="3384903"/>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1</a:t>
              </a:r>
            </a:p>
          </p:txBody>
        </p:sp>
      </p:grpSp>
      <p:sp>
        <p:nvSpPr>
          <p:cNvPr id="17" name="TextBox 16"/>
          <p:cNvSpPr txBox="1"/>
          <p:nvPr/>
        </p:nvSpPr>
        <p:spPr>
          <a:xfrm>
            <a:off x="1617765" y="4366787"/>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כללי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שליפות לעולם התוכן לסטטוס 0</a:t>
            </a:r>
          </a:p>
        </p:txBody>
      </p:sp>
      <p:sp>
        <p:nvSpPr>
          <p:cNvPr id="18" name="TextBox 17"/>
          <p:cNvSpPr txBox="1"/>
          <p:nvPr/>
        </p:nvSpPr>
        <p:spPr>
          <a:xfrm>
            <a:off x="1521457" y="4758072"/>
            <a:ext cx="5559802" cy="499872"/>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שליפות נוספות עבור מעבר סטטוס 0 למודל טבלאות ההחלטה.</a:t>
            </a:r>
          </a:p>
        </p:txBody>
      </p:sp>
      <p:cxnSp>
        <p:nvCxnSpPr>
          <p:cNvPr id="19" name="Connector 18"/>
          <p:cNvCxnSpPr/>
          <p:nvPr/>
        </p:nvCxnSpPr>
        <p:spPr>
          <a:xfrm>
            <a:off x="1081700" y="4139775"/>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60308" y="6096001"/>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23" name="Group 22"/>
          <p:cNvGrpSpPr/>
          <p:nvPr/>
        </p:nvGrpSpPr>
        <p:grpSpPr>
          <a:xfrm>
            <a:off x="653581" y="4689768"/>
            <a:ext cx="856239" cy="856239"/>
            <a:chOff x="653581" y="4689768"/>
            <a:chExt cx="856239" cy="856239"/>
          </a:xfrm>
        </p:grpSpPr>
        <p:sp>
          <p:nvSpPr>
            <p:cNvPr id="21" name="Oval 20"/>
            <p:cNvSpPr/>
            <p:nvPr/>
          </p:nvSpPr>
          <p:spPr>
            <a:xfrm>
              <a:off x="653581" y="4689768"/>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581" y="4689768"/>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2</a:t>
              </a:r>
            </a:p>
          </p:txBody>
        </p:sp>
      </p:grpSp>
      <p:sp>
        <p:nvSpPr>
          <p:cNvPr id="24" name="TextBox 23"/>
          <p:cNvSpPr txBox="1"/>
          <p:nvPr/>
        </p:nvSpPr>
        <p:spPr>
          <a:xfrm>
            <a:off x="164917" y="6299201"/>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כללי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אינדיקציית עתידים</a:t>
            </a:r>
          </a:p>
        </p:txBody>
      </p:sp>
      <p:sp>
        <p:nvSpPr>
          <p:cNvPr id="25" name="TextBox 24"/>
          <p:cNvSpPr txBox="1"/>
          <p:nvPr/>
        </p:nvSpPr>
        <p:spPr>
          <a:xfrm>
            <a:off x="571680" y="6690486"/>
            <a:ext cx="5143320" cy="2133600"/>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הוספת תת סוג חדש (107 - עתידים) בסוג מידע 9100. תת הסוג ישמש לסימון אוכלוסיית עתידים. הזנת האינדיקצייה תתבצע באופן אוטומטי, על ידי מעבר החוקה בעולם התוכן (הוקם עולם תוכן חדש בשם "אינדיקציות מלש"בים, שם נמצאת החוקה "אינדיקציית עתידים").</a:t>
            </a:r>
          </a:p>
        </p:txBody>
      </p:sp>
      <p:cxnSp>
        <p:nvCxnSpPr>
          <p:cNvPr id="26" name="Connector 25"/>
          <p:cNvCxnSpPr/>
          <p:nvPr/>
        </p:nvCxnSpPr>
        <p:spPr>
          <a:xfrm>
            <a:off x="6323881" y="6072188"/>
            <a:ext cx="0" cy="195480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55852" y="8005218"/>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30" name="Group 29"/>
          <p:cNvGrpSpPr/>
          <p:nvPr/>
        </p:nvGrpSpPr>
        <p:grpSpPr>
          <a:xfrm>
            <a:off x="5895762" y="6621468"/>
            <a:ext cx="856239" cy="856239"/>
            <a:chOff x="5895762" y="6621468"/>
            <a:chExt cx="856239" cy="856239"/>
          </a:xfrm>
        </p:grpSpPr>
        <p:sp>
          <p:nvSpPr>
            <p:cNvPr id="28" name="Oval 27"/>
            <p:cNvSpPr/>
            <p:nvPr/>
          </p:nvSpPr>
          <p:spPr>
            <a:xfrm>
              <a:off x="5895762" y="6621468"/>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95762" y="6621468"/>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3</a:t>
              </a:r>
            </a:p>
          </p:txBody>
        </p:sp>
      </p:grpSp>
      <p:sp>
        <p:nvSpPr>
          <p:cNvPr id="31" name="TextBox 30"/>
          <p:cNvSpPr txBox="1"/>
          <p:nvPr/>
        </p:nvSpPr>
        <p:spPr>
          <a:xfrm>
            <a:off x="1377359" y="8208418"/>
            <a:ext cx="588317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כללי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שלשת ארכוב</a:t>
            </a:r>
          </a:p>
        </p:txBody>
      </p:sp>
      <p:sp>
        <p:nvSpPr>
          <p:cNvPr id="32" name="TextBox 31"/>
          <p:cNvSpPr txBox="1"/>
          <p:nvPr/>
        </p:nvSpPr>
        <p:spPr>
          <a:xfrm>
            <a:off x="1521457" y="8599703"/>
            <a:ext cx="5559802" cy="499872"/>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יצירת שלשת ארכוב חדשה - שלב ב.ג.</a:t>
            </a:r>
          </a:p>
        </p:txBody>
      </p:sp>
      <p:cxnSp>
        <p:nvCxnSpPr>
          <p:cNvPr id="33" name="Connector 32"/>
          <p:cNvCxnSpPr/>
          <p:nvPr/>
        </p:nvCxnSpPr>
        <p:spPr>
          <a:xfrm>
            <a:off x="1077244" y="7981406"/>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55852" y="9937633"/>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37" name="Group 36"/>
          <p:cNvGrpSpPr/>
          <p:nvPr/>
        </p:nvGrpSpPr>
        <p:grpSpPr>
          <a:xfrm>
            <a:off x="649125" y="8531399"/>
            <a:ext cx="856239" cy="856239"/>
            <a:chOff x="649125" y="8531399"/>
            <a:chExt cx="856239" cy="856239"/>
          </a:xfrm>
        </p:grpSpPr>
        <p:sp>
          <p:nvSpPr>
            <p:cNvPr id="35" name="Oval 34"/>
            <p:cNvSpPr/>
            <p:nvPr/>
          </p:nvSpPr>
          <p:spPr>
            <a:xfrm>
              <a:off x="649125" y="8531399"/>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9125" y="8531399"/>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4</a:t>
              </a:r>
            </a:p>
          </p:txBody>
        </p:sp>
      </p:grpSp>
      <p:sp>
        <p:nvSpPr>
          <p:cNvPr id="38" name="TextBox 37"/>
          <p:cNvSpPr txBox="1"/>
          <p:nvPr/>
        </p:nvSpPr>
        <p:spPr>
          <a:xfrm>
            <a:off x="213537" y="10140833"/>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כללי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שליפות עולם התוכן</a:t>
            </a:r>
          </a:p>
        </p:txBody>
      </p:sp>
      <p:sp>
        <p:nvSpPr>
          <p:cNvPr id="39" name="TextBox 38"/>
          <p:cNvSpPr txBox="1"/>
          <p:nvPr/>
        </p:nvSpPr>
        <p:spPr>
          <a:xfrm>
            <a:off x="304800" y="10532118"/>
            <a:ext cx="5372231" cy="499872"/>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תוקנו שליפות תקולות בעולם התוכן.</a:t>
            </a:r>
          </a:p>
        </p:txBody>
      </p:sp>
      <p:cxnSp>
        <p:nvCxnSpPr>
          <p:cNvPr id="40" name="Connector 39"/>
          <p:cNvCxnSpPr/>
          <p:nvPr/>
        </p:nvCxnSpPr>
        <p:spPr>
          <a:xfrm>
            <a:off x="6319425" y="9913820"/>
            <a:ext cx="0" cy="195480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5852" y="11868620"/>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44" name="Group 43"/>
          <p:cNvGrpSpPr/>
          <p:nvPr/>
        </p:nvGrpSpPr>
        <p:grpSpPr>
          <a:xfrm>
            <a:off x="5891306" y="10463100"/>
            <a:ext cx="856239" cy="856239"/>
            <a:chOff x="5891306" y="10463100"/>
            <a:chExt cx="856239" cy="856239"/>
          </a:xfrm>
        </p:grpSpPr>
        <p:sp>
          <p:nvSpPr>
            <p:cNvPr id="42" name="Oval 41"/>
            <p:cNvSpPr/>
            <p:nvPr/>
          </p:nvSpPr>
          <p:spPr>
            <a:xfrm>
              <a:off x="5891306" y="10463100"/>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91306" y="10463100"/>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5</a:t>
              </a:r>
            </a:p>
          </p:txBody>
        </p:sp>
      </p:grpSp>
      <p:sp>
        <p:nvSpPr>
          <p:cNvPr id="45" name="TextBox 44"/>
          <p:cNvSpPr txBox="1"/>
          <p:nvPr/>
        </p:nvSpPr>
        <p:spPr>
          <a:xfrm>
            <a:off x="1613309" y="12071820"/>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כללי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שליפות פריפריה</a:t>
            </a:r>
          </a:p>
        </p:txBody>
      </p:sp>
      <p:sp>
        <p:nvSpPr>
          <p:cNvPr id="46" name="TextBox 45"/>
          <p:cNvSpPr txBox="1"/>
          <p:nvPr/>
        </p:nvSpPr>
        <p:spPr>
          <a:xfrm>
            <a:off x="1676400" y="12463105"/>
            <a:ext cx="5559802" cy="499872"/>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הוספת שליפות פריפריה לעולם התוכן.</a:t>
            </a:r>
          </a:p>
        </p:txBody>
      </p:sp>
      <p:cxnSp>
        <p:nvCxnSpPr>
          <p:cNvPr id="47" name="Connector 46"/>
          <p:cNvCxnSpPr/>
          <p:nvPr/>
        </p:nvCxnSpPr>
        <p:spPr>
          <a:xfrm>
            <a:off x="1077244" y="11844808"/>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055851" y="13799607"/>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51" name="Group 50"/>
          <p:cNvGrpSpPr/>
          <p:nvPr/>
        </p:nvGrpSpPr>
        <p:grpSpPr>
          <a:xfrm>
            <a:off x="649125" y="12394801"/>
            <a:ext cx="856239" cy="856239"/>
            <a:chOff x="649125" y="12394801"/>
            <a:chExt cx="856239" cy="856239"/>
          </a:xfrm>
        </p:grpSpPr>
        <p:sp>
          <p:nvSpPr>
            <p:cNvPr id="49" name="Oval 48"/>
            <p:cNvSpPr/>
            <p:nvPr/>
          </p:nvSpPr>
          <p:spPr>
            <a:xfrm>
              <a:off x="649125" y="12394801"/>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9125" y="12394801"/>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6</a:t>
              </a:r>
            </a:p>
          </p:txBody>
        </p:sp>
      </p:grpSp>
      <p:sp>
        <p:nvSpPr>
          <p:cNvPr id="52" name="TextBox 51"/>
          <p:cNvSpPr txBox="1"/>
          <p:nvPr/>
        </p:nvSpPr>
        <p:spPr>
          <a:xfrm>
            <a:off x="224975" y="14002807"/>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כללי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הרשאות לשליפות רמ"מ</a:t>
            </a:r>
          </a:p>
        </p:txBody>
      </p:sp>
      <p:sp>
        <p:nvSpPr>
          <p:cNvPr id="53" name="TextBox 52"/>
          <p:cNvSpPr txBox="1"/>
          <p:nvPr/>
        </p:nvSpPr>
        <p:spPr>
          <a:xfrm>
            <a:off x="304800" y="14394092"/>
            <a:ext cx="5383669"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תוקנה בדיקת הרשאה שגויה בשליפות רמ"מ (סוג מידע 9105) בעולם התוכן.</a:t>
            </a:r>
          </a:p>
        </p:txBody>
      </p:sp>
      <p:cxnSp>
        <p:nvCxnSpPr>
          <p:cNvPr id="54" name="Connector 53"/>
          <p:cNvCxnSpPr/>
          <p:nvPr/>
        </p:nvCxnSpPr>
        <p:spPr>
          <a:xfrm>
            <a:off x="6319424" y="13775794"/>
            <a:ext cx="0" cy="195480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55850" y="15737851"/>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58" name="Group 57"/>
          <p:cNvGrpSpPr/>
          <p:nvPr/>
        </p:nvGrpSpPr>
        <p:grpSpPr>
          <a:xfrm>
            <a:off x="5891305" y="14325074"/>
            <a:ext cx="856239" cy="856239"/>
            <a:chOff x="5891305" y="14325074"/>
            <a:chExt cx="856239" cy="856239"/>
          </a:xfrm>
        </p:grpSpPr>
        <p:sp>
          <p:nvSpPr>
            <p:cNvPr id="56" name="Oval 55"/>
            <p:cNvSpPr/>
            <p:nvPr/>
          </p:nvSpPr>
          <p:spPr>
            <a:xfrm>
              <a:off x="5891305" y="14325074"/>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891305" y="14325074"/>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7</a:t>
              </a:r>
            </a:p>
          </p:txBody>
        </p:sp>
      </p:grpSp>
      <p:sp>
        <p:nvSpPr>
          <p:cNvPr id="59" name="TextBox 58"/>
          <p:cNvSpPr txBox="1"/>
          <p:nvPr/>
        </p:nvSpPr>
        <p:spPr>
          <a:xfrm>
            <a:off x="1613309" y="15941051"/>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לשכות הגיוס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תעודת פטור</a:t>
            </a:r>
          </a:p>
        </p:txBody>
      </p:sp>
      <p:sp>
        <p:nvSpPr>
          <p:cNvPr id="60" name="TextBox 59"/>
          <p:cNvSpPr txBox="1"/>
          <p:nvPr/>
        </p:nvSpPr>
        <p:spPr>
          <a:xfrm>
            <a:off x="1457631" y="16332336"/>
            <a:ext cx="5559802" cy="499872"/>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תיקון בהפקת תעודת פטור בZHR_PTOR_CARD.</a:t>
            </a:r>
          </a:p>
        </p:txBody>
      </p:sp>
      <p:cxnSp>
        <p:nvCxnSpPr>
          <p:cNvPr id="61" name="Connector 60"/>
          <p:cNvCxnSpPr/>
          <p:nvPr/>
        </p:nvCxnSpPr>
        <p:spPr>
          <a:xfrm>
            <a:off x="1077242" y="15714039"/>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55850" y="17670265"/>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65" name="Group 64"/>
          <p:cNvGrpSpPr/>
          <p:nvPr/>
        </p:nvGrpSpPr>
        <p:grpSpPr>
          <a:xfrm>
            <a:off x="649123" y="16264032"/>
            <a:ext cx="856239" cy="856239"/>
            <a:chOff x="649123" y="16264032"/>
            <a:chExt cx="856239" cy="856239"/>
          </a:xfrm>
        </p:grpSpPr>
        <p:sp>
          <p:nvSpPr>
            <p:cNvPr id="63" name="Oval 62"/>
            <p:cNvSpPr/>
            <p:nvPr/>
          </p:nvSpPr>
          <p:spPr>
            <a:xfrm>
              <a:off x="649123" y="16264032"/>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9123" y="16264032"/>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8</a:t>
              </a:r>
            </a:p>
          </p:txBody>
        </p:sp>
      </p:grpSp>
      <p:cxnSp>
        <p:nvCxnSpPr>
          <p:cNvPr id="66" name="Connector 65"/>
          <p:cNvCxnSpPr/>
          <p:nvPr/>
        </p:nvCxnSpPr>
        <p:spPr>
          <a:xfrm>
            <a:off x="6319423" y="17646452"/>
            <a:ext cx="0" cy="468000"/>
          </a:xfrm>
          <a:prstGeom prst="line">
            <a:avLst/>
          </a:prstGeom>
          <a:ln w="63500">
            <a:solidFill>
              <a:srgbClr val="004AAD"/>
            </a:solidFill>
          </a:ln>
          <a:effectLst>
            <a:reflection blurRad="6350" stA="50000" stPos="0" endA="300" endPos="35000" dist="0" dir="5400000" fadeDir="5400000" sy="-100000" algn="bl" rotWithShape="0"/>
          </a:effectLst>
        </p:spPr>
        <p:style>
          <a:lnRef idx="2">
            <a:schemeClr val="accent1"/>
          </a:lnRef>
          <a:fillRef idx="0">
            <a:schemeClr val="accent1"/>
          </a:fillRef>
          <a:effectRef idx="1">
            <a:schemeClr val="accent1"/>
          </a:effectRef>
          <a:fontRef idx="minor">
            <a:schemeClr val="tx1"/>
          </a:fontRef>
        </p:style>
      </p:cxnSp>
      <p:pic>
        <p:nvPicPr>
          <p:cNvPr id="67" name="Picture 66" descr="PicturePeople.png"/>
          <p:cNvPicPr>
            <a:picLocks noChangeAspect="1"/>
          </p:cNvPicPr>
          <p:nvPr/>
        </p:nvPicPr>
        <p:blipFill>
          <a:blip r:embed="rId4"/>
          <a:stretch>
            <a:fillRect/>
          </a:stretch>
        </p:blipFill>
        <p:spPr>
          <a:xfrm>
            <a:off x="28789" y="17368014"/>
            <a:ext cx="2129096" cy="1681986"/>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5FA"/>
        </a:solidFill>
        <a:effectLst/>
      </p:bgPr>
    </p:bg>
    <p:spTree>
      <p:nvGrpSpPr>
        <p:cNvPr id="1" name=""/>
        <p:cNvGrpSpPr/>
        <p:nvPr/>
      </p:nvGrpSpPr>
      <p:grpSpPr/>
      <p:sp>
        <p:nvSpPr>
          <p:cNvPr id="2" name="Rectangle 1"/>
          <p:cNvSpPr/>
          <p:nvPr/>
        </p:nvSpPr>
        <p:spPr>
          <a:xfrm>
            <a:off x="129294" y="300068"/>
            <a:ext cx="7361412" cy="226594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ictureLogo.png"/>
          <p:cNvPicPr>
            <a:picLocks noChangeAspect="1"/>
          </p:cNvPicPr>
          <p:nvPr/>
        </p:nvPicPr>
        <p:blipFill>
          <a:blip r:embed="rId2"/>
          <a:stretch>
            <a:fillRect/>
          </a:stretch>
        </p:blipFill>
        <p:spPr>
          <a:xfrm>
            <a:off x="129294" y="311007"/>
            <a:ext cx="1072462" cy="1201987"/>
          </a:xfrm>
          <a:prstGeom prst="rect">
            <a:avLst/>
          </a:prstGeom>
        </p:spPr>
      </p:pic>
      <p:pic>
        <p:nvPicPr>
          <p:cNvPr id="4" name="Picture 3" descr="PictureShield.png"/>
          <p:cNvPicPr>
            <a:picLocks noChangeAspect="1"/>
          </p:cNvPicPr>
          <p:nvPr/>
        </p:nvPicPr>
        <p:blipFill>
          <a:blip r:embed="rId3"/>
          <a:stretch>
            <a:fillRect/>
          </a:stretch>
        </p:blipFill>
        <p:spPr>
          <a:xfrm>
            <a:off x="6761525" y="462339"/>
            <a:ext cx="638880" cy="899321"/>
          </a:xfrm>
          <a:prstGeom prst="rect">
            <a:avLst/>
          </a:prstGeom>
        </p:spPr>
      </p:pic>
      <p:sp>
        <p:nvSpPr>
          <p:cNvPr id="5" name="Rectangle 4"/>
          <p:cNvSpPr/>
          <p:nvPr/>
        </p:nvSpPr>
        <p:spPr>
          <a:xfrm>
            <a:off x="-134306" y="18432419"/>
            <a:ext cx="7888611" cy="757937"/>
          </a:xfrm>
          <a:prstGeom prst="rect">
            <a:avLst/>
          </a:prstGeom>
          <a:solidFill>
            <a:srgbClr val="5F90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2460" y="503130"/>
            <a:ext cx="6096000" cy="820738"/>
          </a:xfrm>
          <a:prstGeom prst="rect">
            <a:avLst/>
          </a:prstGeom>
          <a:noFill/>
        </p:spPr>
        <p:txBody>
          <a:bodyPr wrap="square">
            <a:noAutofit/>
          </a:bodyPr>
          <a:lstStyle/>
          <a:p>
            <a:pPr rtl="1" algn="ctr">
              <a:lnSpc>
                <a:spcPts val="6400"/>
              </a:lnSpc>
            </a:pPr>
            <a:r>
              <a:rPr sz="6400" b="1" lang="he-IL">
                <a:solidFill>
                  <a:srgbClr val="1E2E5D"/>
                </a:solidFill>
                <a:latin typeface="Choco Bold"/>
                <a:cs typeface="Choco Bold"/>
                <a:ea typeface="Choco Bold"/>
              </a:rPr>
              <a:t>מה חדש ב</a:t>
            </a:r>
            <a:r>
              <a:rPr sz="6400" b="1" lang="en-US">
                <a:solidFill>
                  <a:srgbClr val="1E2E5D"/>
                </a:solidFill>
                <a:latin typeface="Cascadia Mono SemiBold"/>
                <a:cs typeface="Cascadia Mono SemiBold"/>
                <a:ea typeface="Cascadia Mono SemiBold"/>
              </a:rPr>
              <a:t>SAP</a:t>
            </a:r>
            <a:r>
              <a:rPr sz="6400" b="1" lang="ar-EG">
                <a:solidFill>
                  <a:srgbClr val="1E2E5D"/>
                </a:solidFill>
                <a:latin typeface="Choco Bold"/>
                <a:cs typeface="Choco Bold"/>
                <a:ea typeface="Choco Bold"/>
              </a:rPr>
              <a:t>?</a:t>
            </a:r>
          </a:p>
        </p:txBody>
      </p:sp>
      <p:sp>
        <p:nvSpPr>
          <p:cNvPr id="7" name="TextBox 6"/>
          <p:cNvSpPr txBox="1"/>
          <p:nvPr/>
        </p:nvSpPr>
        <p:spPr>
          <a:xfrm>
            <a:off x="683920" y="1479693"/>
            <a:ext cx="6096000" cy="589905"/>
          </a:xfrm>
          <a:prstGeom prst="rect">
            <a:avLst/>
          </a:prstGeom>
          <a:noFill/>
        </p:spPr>
        <p:txBody>
          <a:bodyPr wrap="square">
            <a:noAutofit/>
          </a:bodyPr>
          <a:lstStyle/>
          <a:p>
            <a:pPr rtl="1" algn="ctr">
              <a:lnSpc>
                <a:spcPts val="2300"/>
              </a:lnSpc>
            </a:pPr>
            <a:r>
              <a:rPr sz="2300" b="1" lang="he-IL">
                <a:solidFill>
                  <a:srgbClr val="3A4F8B"/>
                </a:solidFill>
                <a:latin typeface="Segoe UI"/>
                <a:cs typeface="Segoe UI"/>
                <a:ea typeface="Segoe UI"/>
              </a:rPr>
              <a:t>גרסת אוגוסט </a:t>
            </a:r>
            <a:r>
              <a:rPr sz="2300" b="1" lang="en-US">
                <a:solidFill>
                  <a:srgbClr val="3A4F8B"/>
                </a:solidFill>
                <a:latin typeface="Segoe UI"/>
                <a:cs typeface="Segoe UI"/>
                <a:ea typeface="Segoe UI"/>
              </a:rPr>
              <a:t>2026</a:t>
            </a:r>
            <a:r>
              <a:rPr sz="2300" b="1" lang="he-IL">
                <a:solidFill>
                  <a:srgbClr val="3A4F8B"/>
                </a:solidFill>
                <a:latin typeface="Segoe UI"/>
                <a:cs typeface="Segoe UI"/>
                <a:ea typeface="Segoe UI"/>
              </a:rPr>
              <a:t> - מועד עליה 16/9/26</a:t>
            </a:r>
            <a:r>
              <a:rPr sz="2300" b="1" lang="ar-EG">
                <a:solidFill>
                  <a:srgbClr val="3A4F8B"/>
                </a:solidFill>
                <a:latin typeface="Segoe UI"/>
                <a:cs typeface="Segoe UI"/>
                <a:ea typeface="Segoe UI"/>
              </a:rPr>
              <a:t> </a:t>
            </a:r>
            <a:r>
              <a:rPr sz="2300" b="1" lang="he-IL">
                <a:solidFill>
                  <a:srgbClr val="68BBE3"/>
                </a:solidFill>
                <a:latin typeface="Segoe UI"/>
                <a:cs typeface="Segoe UI"/>
                <a:ea typeface="Segoe UI"/>
              </a:rPr>
              <a:t>
מדור מע”מ</a:t>
            </a:r>
          </a:p>
        </p:txBody>
      </p:sp>
      <p:sp>
        <p:nvSpPr>
          <p:cNvPr id="8" name="TextBox 7"/>
          <p:cNvSpPr txBox="1"/>
          <p:nvPr/>
        </p:nvSpPr>
        <p:spPr>
          <a:xfrm>
            <a:off x="684575" y="2139975"/>
            <a:ext cx="6096000" cy="261867"/>
          </a:xfrm>
          <a:prstGeom prst="rect">
            <a:avLst/>
          </a:prstGeom>
          <a:noFill/>
        </p:spPr>
        <p:txBody>
          <a:bodyPr wrap="square">
            <a:noAutofit/>
          </a:bodyPr>
          <a:lstStyle/>
          <a:p>
            <a:pPr rtl="1" algn="ctr"/>
            <a:r>
              <a:rPr sz="1400" b="1" lang="he-IL">
                <a:solidFill>
                  <a:srgbClr val="3A4F8B"/>
                </a:solidFill>
                <a:latin typeface="Segoe UI"/>
                <a:cs typeface="Segoe UI"/>
                <a:ea typeface="Segoe UI"/>
              </a:rPr>
              <a:t>גרסאות עתידיות 21/10/26 + 7/10/26</a:t>
            </a:r>
          </a:p>
        </p:txBody>
      </p:sp>
      <p:sp>
        <p:nvSpPr>
          <p:cNvPr id="9" name="TextBox 8"/>
          <p:cNvSpPr txBox="1"/>
          <p:nvPr/>
        </p:nvSpPr>
        <p:spPr>
          <a:xfrm>
            <a:off x="0" y="18570540"/>
            <a:ext cx="7620000" cy="296235"/>
          </a:xfrm>
          <a:prstGeom prst="rect">
            <a:avLst/>
          </a:prstGeom>
          <a:noFill/>
        </p:spPr>
        <p:txBody>
          <a:bodyPr wrap="square">
            <a:noAutofit/>
          </a:bodyPr>
          <a:lstStyle/>
          <a:p>
            <a:pPr rtl="1" algn="ctr"/>
            <a:r>
              <a:rPr sz="1700" b="1" lang="he-IL">
                <a:solidFill>
                  <a:srgbClr val="FFFFFF"/>
                </a:solidFill>
                <a:latin typeface="Guttman Yad-Brush"/>
                <a:cs typeface="Guttman Yad-Brush"/>
                <a:ea typeface="Guttman Yad-Brush"/>
              </a:rPr>
              <a:t>כשטכנולוגיה פוגשת אנשים</a:t>
            </a:r>
          </a:p>
        </p:txBody>
      </p:sp>
      <p:sp>
        <p:nvSpPr>
          <p:cNvPr id="10" name="TextBox 9"/>
          <p:cNvSpPr txBox="1"/>
          <p:nvPr/>
        </p:nvSpPr>
        <p:spPr>
          <a:xfrm>
            <a:off x="218909" y="2769217"/>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מדור ברה"ן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אינדיקציית ברה"ן</a:t>
            </a:r>
          </a:p>
        </p:txBody>
      </p:sp>
      <p:sp>
        <p:nvSpPr>
          <p:cNvPr id="11" name="TextBox 10"/>
          <p:cNvSpPr txBox="1"/>
          <p:nvPr/>
        </p:nvSpPr>
        <p:spPr>
          <a:xfrm>
            <a:off x="539083" y="3160502"/>
            <a:ext cx="5143320" cy="1316736"/>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שינויים נדרשים באינדיקציית ברה"ן שכוללים הוספות / הורדות / שינוי שם של סיבות סטטוס אינדיקציה, מצבי סטטוס אינדיקציה וגורמים מפנים מסוימים.</a:t>
            </a:r>
          </a:p>
        </p:txBody>
      </p:sp>
      <p:cxnSp>
        <p:nvCxnSpPr>
          <p:cNvPr id="12" name="Connector 11"/>
          <p:cNvCxnSpPr/>
          <p:nvPr/>
        </p:nvCxnSpPr>
        <p:spPr>
          <a:xfrm>
            <a:off x="6323881" y="3438646"/>
            <a:ext cx="0" cy="748753"/>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60308" y="4163587"/>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16" name="Group 15"/>
          <p:cNvGrpSpPr/>
          <p:nvPr/>
        </p:nvGrpSpPr>
        <p:grpSpPr>
          <a:xfrm>
            <a:off x="5895762" y="3384903"/>
            <a:ext cx="856239" cy="856239"/>
            <a:chOff x="5895762" y="3384903"/>
            <a:chExt cx="856239" cy="856239"/>
          </a:xfrm>
        </p:grpSpPr>
        <p:sp>
          <p:nvSpPr>
            <p:cNvPr id="14" name="Oval 13"/>
            <p:cNvSpPr/>
            <p:nvPr/>
          </p:nvSpPr>
          <p:spPr>
            <a:xfrm>
              <a:off x="5895762" y="3384903"/>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5762" y="3384903"/>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9</a:t>
              </a:r>
            </a:p>
          </p:txBody>
        </p:sp>
      </p:grpSp>
      <p:sp>
        <p:nvSpPr>
          <p:cNvPr id="17" name="TextBox 16"/>
          <p:cNvSpPr txBox="1"/>
          <p:nvPr/>
        </p:nvSpPr>
        <p:spPr>
          <a:xfrm>
            <a:off x="1617765" y="4366787"/>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מדור גיוס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שליפות עולם התוכן</a:t>
            </a:r>
          </a:p>
        </p:txBody>
      </p:sp>
      <p:sp>
        <p:nvSpPr>
          <p:cNvPr id="18" name="TextBox 17"/>
          <p:cNvSpPr txBox="1"/>
          <p:nvPr/>
        </p:nvSpPr>
        <p:spPr>
          <a:xfrm>
            <a:off x="1521457" y="4758072"/>
            <a:ext cx="5559802"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נוספו שליפות לעולם התוכן ליעדים כלצ כשירות, טירונות אילן, קורס עברית גברים.</a:t>
            </a:r>
          </a:p>
        </p:txBody>
      </p:sp>
      <p:cxnSp>
        <p:nvCxnSpPr>
          <p:cNvPr id="19" name="Connector 18"/>
          <p:cNvCxnSpPr/>
          <p:nvPr/>
        </p:nvCxnSpPr>
        <p:spPr>
          <a:xfrm>
            <a:off x="1081700" y="4139775"/>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60308" y="6096001"/>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23" name="Group 22"/>
          <p:cNvGrpSpPr/>
          <p:nvPr/>
        </p:nvGrpSpPr>
        <p:grpSpPr>
          <a:xfrm>
            <a:off x="653581" y="4689768"/>
            <a:ext cx="856239" cy="856239"/>
            <a:chOff x="653581" y="4689768"/>
            <a:chExt cx="856239" cy="856239"/>
          </a:xfrm>
        </p:grpSpPr>
        <p:sp>
          <p:nvSpPr>
            <p:cNvPr id="21" name="Oval 20"/>
            <p:cNvSpPr/>
            <p:nvPr/>
          </p:nvSpPr>
          <p:spPr>
            <a:xfrm>
              <a:off x="653581" y="4689768"/>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581" y="4689768"/>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10</a:t>
              </a:r>
            </a:p>
          </p:txBody>
        </p:sp>
      </p:grpSp>
      <p:sp>
        <p:nvSpPr>
          <p:cNvPr id="24" name="TextBox 23"/>
          <p:cNvSpPr txBox="1"/>
          <p:nvPr/>
        </p:nvSpPr>
        <p:spPr>
          <a:xfrm>
            <a:off x="164917" y="6299201"/>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מדור גיוס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חישוב מיקום גיוס אוטומטי</a:t>
            </a:r>
          </a:p>
        </p:txBody>
      </p:sp>
      <p:sp>
        <p:nvSpPr>
          <p:cNvPr id="25" name="TextBox 24"/>
          <p:cNvSpPr txBox="1"/>
          <p:nvPr/>
        </p:nvSpPr>
        <p:spPr>
          <a:xfrm>
            <a:off x="571680" y="6690486"/>
            <a:ext cx="5143320" cy="1316736"/>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נוספו הגדרות מיקום גיוס אוטמטי הנפתח בפתיחת זימון לגיוס ע"פ לוגיקות הבודקות האם המועמד סיים הליכי לשכה, ולפיכך מופנה למקום גיוס אוטמטית.</a:t>
            </a:r>
          </a:p>
        </p:txBody>
      </p:sp>
      <p:cxnSp>
        <p:nvCxnSpPr>
          <p:cNvPr id="26" name="Connector 25"/>
          <p:cNvCxnSpPr/>
          <p:nvPr/>
        </p:nvCxnSpPr>
        <p:spPr>
          <a:xfrm>
            <a:off x="6323881" y="6072188"/>
            <a:ext cx="0" cy="195480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55852" y="8005218"/>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30" name="Group 29"/>
          <p:cNvGrpSpPr/>
          <p:nvPr/>
        </p:nvGrpSpPr>
        <p:grpSpPr>
          <a:xfrm>
            <a:off x="5895762" y="6621468"/>
            <a:ext cx="856239" cy="856239"/>
            <a:chOff x="5895762" y="6621468"/>
            <a:chExt cx="856239" cy="856239"/>
          </a:xfrm>
        </p:grpSpPr>
        <p:sp>
          <p:nvSpPr>
            <p:cNvPr id="28" name="Oval 27"/>
            <p:cNvSpPr/>
            <p:nvPr/>
          </p:nvSpPr>
          <p:spPr>
            <a:xfrm>
              <a:off x="5895762" y="6621468"/>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95762" y="6621468"/>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11</a:t>
              </a:r>
            </a:p>
          </p:txBody>
        </p:sp>
      </p:grpSp>
      <p:sp>
        <p:nvSpPr>
          <p:cNvPr id="31" name="TextBox 30"/>
          <p:cNvSpPr txBox="1"/>
          <p:nvPr/>
        </p:nvSpPr>
        <p:spPr>
          <a:xfrm>
            <a:off x="1377359" y="8208418"/>
            <a:ext cx="588317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מדור גיוס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הוספת מסלולים לסיבת דחייה צכ"א</a:t>
            </a:r>
          </a:p>
        </p:txBody>
      </p:sp>
      <p:sp>
        <p:nvSpPr>
          <p:cNvPr id="32" name="TextBox 31"/>
          <p:cNvSpPr txBox="1"/>
          <p:nvPr/>
        </p:nvSpPr>
        <p:spPr>
          <a:xfrm>
            <a:off x="1521457" y="8599703"/>
            <a:ext cx="5559802"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כעת בסוג מידע 9126 תת סוג 72,  סיבת דחייה 06 ניתן להזין מסולים שונים כאפשרות רשות.</a:t>
            </a:r>
          </a:p>
        </p:txBody>
      </p:sp>
      <p:cxnSp>
        <p:nvCxnSpPr>
          <p:cNvPr id="33" name="Connector 32"/>
          <p:cNvCxnSpPr/>
          <p:nvPr/>
        </p:nvCxnSpPr>
        <p:spPr>
          <a:xfrm>
            <a:off x="1077244" y="7981406"/>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55852" y="9937633"/>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37" name="Group 36"/>
          <p:cNvGrpSpPr/>
          <p:nvPr/>
        </p:nvGrpSpPr>
        <p:grpSpPr>
          <a:xfrm>
            <a:off x="649125" y="8531399"/>
            <a:ext cx="856239" cy="856239"/>
            <a:chOff x="649125" y="8531399"/>
            <a:chExt cx="856239" cy="856239"/>
          </a:xfrm>
        </p:grpSpPr>
        <p:sp>
          <p:nvSpPr>
            <p:cNvPr id="35" name="Oval 34"/>
            <p:cNvSpPr/>
            <p:nvPr/>
          </p:nvSpPr>
          <p:spPr>
            <a:xfrm>
              <a:off x="649125" y="8531399"/>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9125" y="8531399"/>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12</a:t>
              </a:r>
            </a:p>
          </p:txBody>
        </p:sp>
      </p:grpSp>
      <p:sp>
        <p:nvSpPr>
          <p:cNvPr id="38" name="TextBox 37"/>
          <p:cNvSpPr txBox="1"/>
          <p:nvPr/>
        </p:nvSpPr>
        <p:spPr>
          <a:xfrm>
            <a:off x="213537" y="10140833"/>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מדור גיוס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קוד פעילות חדש</a:t>
            </a:r>
          </a:p>
        </p:txBody>
      </p:sp>
      <p:sp>
        <p:nvSpPr>
          <p:cNvPr id="39" name="TextBox 38"/>
          <p:cNvSpPr txBox="1"/>
          <p:nvPr/>
        </p:nvSpPr>
        <p:spPr>
          <a:xfrm>
            <a:off x="304800" y="10532118"/>
            <a:ext cx="5372231"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הוספת קוד פעילות חדש הניתן להזנה "פטור בהחלטה מיוחדת - קראי" סוג מידע 9125-64.</a:t>
            </a:r>
          </a:p>
        </p:txBody>
      </p:sp>
      <p:cxnSp>
        <p:nvCxnSpPr>
          <p:cNvPr id="40" name="Connector 39"/>
          <p:cNvCxnSpPr/>
          <p:nvPr/>
        </p:nvCxnSpPr>
        <p:spPr>
          <a:xfrm>
            <a:off x="6319425" y="9913820"/>
            <a:ext cx="0" cy="195480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5852" y="11868620"/>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44" name="Group 43"/>
          <p:cNvGrpSpPr/>
          <p:nvPr/>
        </p:nvGrpSpPr>
        <p:grpSpPr>
          <a:xfrm>
            <a:off x="5891306" y="10463100"/>
            <a:ext cx="856239" cy="856239"/>
            <a:chOff x="5891306" y="10463100"/>
            <a:chExt cx="856239" cy="856239"/>
          </a:xfrm>
        </p:grpSpPr>
        <p:sp>
          <p:nvSpPr>
            <p:cNvPr id="42" name="Oval 41"/>
            <p:cNvSpPr/>
            <p:nvPr/>
          </p:nvSpPr>
          <p:spPr>
            <a:xfrm>
              <a:off x="5891306" y="10463100"/>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91306" y="10463100"/>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13</a:t>
              </a:r>
            </a:p>
          </p:txBody>
        </p:sp>
      </p:grpSp>
      <p:sp>
        <p:nvSpPr>
          <p:cNvPr id="45" name="TextBox 44"/>
          <p:cNvSpPr txBox="1"/>
          <p:nvPr/>
        </p:nvSpPr>
        <p:spPr>
          <a:xfrm>
            <a:off x="1613309" y="12071820"/>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מדור גיוס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הוספת מסלולים לסיבת דחייה פרט</a:t>
            </a:r>
          </a:p>
        </p:txBody>
      </p:sp>
      <p:sp>
        <p:nvSpPr>
          <p:cNvPr id="46" name="TextBox 45"/>
          <p:cNvSpPr txBox="1"/>
          <p:nvPr/>
        </p:nvSpPr>
        <p:spPr>
          <a:xfrm>
            <a:off x="1676400" y="12463105"/>
            <a:ext cx="5559802"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הוספת מסלול דחייה/ הקדמת גיוס לסיבת דחייה/ הקדמה "פרט" - עולה חדש התאקלמות.</a:t>
            </a:r>
          </a:p>
        </p:txBody>
      </p:sp>
      <p:cxnSp>
        <p:nvCxnSpPr>
          <p:cNvPr id="47" name="Connector 46"/>
          <p:cNvCxnSpPr/>
          <p:nvPr/>
        </p:nvCxnSpPr>
        <p:spPr>
          <a:xfrm>
            <a:off x="1077244" y="11844808"/>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055851" y="13799607"/>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51" name="Group 50"/>
          <p:cNvGrpSpPr/>
          <p:nvPr/>
        </p:nvGrpSpPr>
        <p:grpSpPr>
          <a:xfrm>
            <a:off x="649125" y="12394801"/>
            <a:ext cx="856239" cy="856239"/>
            <a:chOff x="649125" y="12394801"/>
            <a:chExt cx="856239" cy="856239"/>
          </a:xfrm>
        </p:grpSpPr>
        <p:sp>
          <p:nvSpPr>
            <p:cNvPr id="49" name="Oval 48"/>
            <p:cNvSpPr/>
            <p:nvPr/>
          </p:nvSpPr>
          <p:spPr>
            <a:xfrm>
              <a:off x="649125" y="12394801"/>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9125" y="12394801"/>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14</a:t>
              </a:r>
            </a:p>
          </p:txBody>
        </p:sp>
      </p:grpSp>
      <p:sp>
        <p:nvSpPr>
          <p:cNvPr id="52" name="TextBox 51"/>
          <p:cNvSpPr txBox="1"/>
          <p:nvPr/>
        </p:nvSpPr>
        <p:spPr>
          <a:xfrm>
            <a:off x="224975" y="14002807"/>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מדור פרט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דבב בן מיעוטים</a:t>
            </a:r>
          </a:p>
        </p:txBody>
      </p:sp>
      <p:sp>
        <p:nvSpPr>
          <p:cNvPr id="53" name="TextBox 52"/>
          <p:cNvSpPr txBox="1"/>
          <p:nvPr/>
        </p:nvSpPr>
        <p:spPr>
          <a:xfrm>
            <a:off x="304800" y="14394092"/>
            <a:ext cx="5383669"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יצירת פעילות סיבת דיבוב (102_9125) לבני מיעוטים - קוד פעילות 45.</a:t>
            </a:r>
          </a:p>
        </p:txBody>
      </p:sp>
      <p:cxnSp>
        <p:nvCxnSpPr>
          <p:cNvPr id="54" name="Connector 53"/>
          <p:cNvCxnSpPr/>
          <p:nvPr/>
        </p:nvCxnSpPr>
        <p:spPr>
          <a:xfrm>
            <a:off x="6319424" y="13775794"/>
            <a:ext cx="0" cy="195480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55850" y="15737851"/>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58" name="Group 57"/>
          <p:cNvGrpSpPr/>
          <p:nvPr/>
        </p:nvGrpSpPr>
        <p:grpSpPr>
          <a:xfrm>
            <a:off x="5891305" y="14325074"/>
            <a:ext cx="856239" cy="856239"/>
            <a:chOff x="5891305" y="14325074"/>
            <a:chExt cx="856239" cy="856239"/>
          </a:xfrm>
        </p:grpSpPr>
        <p:sp>
          <p:nvSpPr>
            <p:cNvPr id="56" name="Oval 55"/>
            <p:cNvSpPr/>
            <p:nvPr/>
          </p:nvSpPr>
          <p:spPr>
            <a:xfrm>
              <a:off x="5891305" y="14325074"/>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891305" y="14325074"/>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15</a:t>
              </a:r>
            </a:p>
          </p:txBody>
        </p:sp>
      </p:grpSp>
      <p:sp>
        <p:nvSpPr>
          <p:cNvPr id="59" name="TextBox 58"/>
          <p:cNvSpPr txBox="1"/>
          <p:nvPr/>
        </p:nvSpPr>
        <p:spPr>
          <a:xfrm>
            <a:off x="1613309" y="15941051"/>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מדור תכנון סיירות ולחימה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מסך סיירות - סטטוס מיון</a:t>
            </a:r>
          </a:p>
        </p:txBody>
      </p:sp>
      <p:sp>
        <p:nvSpPr>
          <p:cNvPr id="60" name="TextBox 59"/>
          <p:cNvSpPr txBox="1"/>
          <p:nvPr/>
        </p:nvSpPr>
        <p:spPr>
          <a:xfrm>
            <a:off x="1457631" y="16332336"/>
            <a:ext cx="5559802" cy="499872"/>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בוצע תיקון תקלה בסטטוס מיון - מסך סיירות.</a:t>
            </a:r>
          </a:p>
        </p:txBody>
      </p:sp>
      <p:cxnSp>
        <p:nvCxnSpPr>
          <p:cNvPr id="61" name="Connector 60"/>
          <p:cNvCxnSpPr/>
          <p:nvPr/>
        </p:nvCxnSpPr>
        <p:spPr>
          <a:xfrm>
            <a:off x="1077242" y="15714039"/>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55850" y="17670265"/>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65" name="Group 64"/>
          <p:cNvGrpSpPr/>
          <p:nvPr/>
        </p:nvGrpSpPr>
        <p:grpSpPr>
          <a:xfrm>
            <a:off x="649123" y="16264032"/>
            <a:ext cx="856239" cy="856239"/>
            <a:chOff x="649123" y="16264032"/>
            <a:chExt cx="856239" cy="856239"/>
          </a:xfrm>
        </p:grpSpPr>
        <p:sp>
          <p:nvSpPr>
            <p:cNvPr id="63" name="Oval 62"/>
            <p:cNvSpPr/>
            <p:nvPr/>
          </p:nvSpPr>
          <p:spPr>
            <a:xfrm>
              <a:off x="649123" y="16264032"/>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9123" y="16264032"/>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16</a:t>
              </a:r>
            </a:p>
          </p:txBody>
        </p:sp>
      </p:grpSp>
      <p:cxnSp>
        <p:nvCxnSpPr>
          <p:cNvPr id="66" name="Connector 65"/>
          <p:cNvCxnSpPr/>
          <p:nvPr/>
        </p:nvCxnSpPr>
        <p:spPr>
          <a:xfrm>
            <a:off x="6319423" y="17646452"/>
            <a:ext cx="0" cy="468000"/>
          </a:xfrm>
          <a:prstGeom prst="line">
            <a:avLst/>
          </a:prstGeom>
          <a:ln w="63500">
            <a:solidFill>
              <a:srgbClr val="004AAD"/>
            </a:solidFill>
          </a:ln>
          <a:effectLst>
            <a:reflection blurRad="6350" stA="50000" stPos="0" endA="300" endPos="35000" dist="0" dir="5400000" fadeDir="5400000" sy="-100000" algn="bl" rotWithShape="0"/>
          </a:effectLst>
        </p:spPr>
        <p:style>
          <a:lnRef idx="2">
            <a:schemeClr val="accent1"/>
          </a:lnRef>
          <a:fillRef idx="0">
            <a:schemeClr val="accent1"/>
          </a:fillRef>
          <a:effectRef idx="1">
            <a:schemeClr val="accent1"/>
          </a:effectRef>
          <a:fontRef idx="minor">
            <a:schemeClr val="tx1"/>
          </a:fontRef>
        </p:style>
      </p:cxnSp>
      <p:pic>
        <p:nvPicPr>
          <p:cNvPr id="67" name="Picture 66" descr="PicturePeople.png"/>
          <p:cNvPicPr>
            <a:picLocks noChangeAspect="1"/>
          </p:cNvPicPr>
          <p:nvPr/>
        </p:nvPicPr>
        <p:blipFill>
          <a:blip r:embed="rId4"/>
          <a:stretch>
            <a:fillRect/>
          </a:stretch>
        </p:blipFill>
        <p:spPr>
          <a:xfrm>
            <a:off x="28789" y="17368014"/>
            <a:ext cx="2129096" cy="168198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5FA"/>
        </a:solidFill>
        <a:effectLst/>
      </p:bgPr>
    </p:bg>
    <p:spTree>
      <p:nvGrpSpPr>
        <p:cNvPr id="1" name=""/>
        <p:cNvGrpSpPr/>
        <p:nvPr/>
      </p:nvGrpSpPr>
      <p:grpSpPr/>
      <p:sp>
        <p:nvSpPr>
          <p:cNvPr id="2" name="Rectangle 1"/>
          <p:cNvSpPr/>
          <p:nvPr/>
        </p:nvSpPr>
        <p:spPr>
          <a:xfrm>
            <a:off x="129294" y="300068"/>
            <a:ext cx="7361412" cy="226594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ictureLogo.png"/>
          <p:cNvPicPr>
            <a:picLocks noChangeAspect="1"/>
          </p:cNvPicPr>
          <p:nvPr/>
        </p:nvPicPr>
        <p:blipFill>
          <a:blip r:embed="rId2"/>
          <a:stretch>
            <a:fillRect/>
          </a:stretch>
        </p:blipFill>
        <p:spPr>
          <a:xfrm>
            <a:off x="129294" y="311007"/>
            <a:ext cx="1072462" cy="1201987"/>
          </a:xfrm>
          <a:prstGeom prst="rect">
            <a:avLst/>
          </a:prstGeom>
        </p:spPr>
      </p:pic>
      <p:pic>
        <p:nvPicPr>
          <p:cNvPr id="4" name="Picture 3" descr="PictureShield.png"/>
          <p:cNvPicPr>
            <a:picLocks noChangeAspect="1"/>
          </p:cNvPicPr>
          <p:nvPr/>
        </p:nvPicPr>
        <p:blipFill>
          <a:blip r:embed="rId3"/>
          <a:stretch>
            <a:fillRect/>
          </a:stretch>
        </p:blipFill>
        <p:spPr>
          <a:xfrm>
            <a:off x="6761525" y="462339"/>
            <a:ext cx="638880" cy="899321"/>
          </a:xfrm>
          <a:prstGeom prst="rect">
            <a:avLst/>
          </a:prstGeom>
        </p:spPr>
      </p:pic>
      <p:sp>
        <p:nvSpPr>
          <p:cNvPr id="5" name="Rectangle 4"/>
          <p:cNvSpPr/>
          <p:nvPr/>
        </p:nvSpPr>
        <p:spPr>
          <a:xfrm>
            <a:off x="-134306" y="18432419"/>
            <a:ext cx="7888611" cy="757937"/>
          </a:xfrm>
          <a:prstGeom prst="rect">
            <a:avLst/>
          </a:prstGeom>
          <a:solidFill>
            <a:srgbClr val="5F90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2460" y="503130"/>
            <a:ext cx="6096000" cy="820738"/>
          </a:xfrm>
          <a:prstGeom prst="rect">
            <a:avLst/>
          </a:prstGeom>
          <a:noFill/>
        </p:spPr>
        <p:txBody>
          <a:bodyPr wrap="square">
            <a:noAutofit/>
          </a:bodyPr>
          <a:lstStyle/>
          <a:p>
            <a:pPr rtl="1" algn="ctr">
              <a:lnSpc>
                <a:spcPts val="6400"/>
              </a:lnSpc>
            </a:pPr>
            <a:r>
              <a:rPr sz="6400" b="1" lang="he-IL">
                <a:solidFill>
                  <a:srgbClr val="1E2E5D"/>
                </a:solidFill>
                <a:latin typeface="Choco Bold"/>
                <a:cs typeface="Choco Bold"/>
                <a:ea typeface="Choco Bold"/>
              </a:rPr>
              <a:t>מה חדש ב</a:t>
            </a:r>
            <a:r>
              <a:rPr sz="6400" b="1" lang="en-US">
                <a:solidFill>
                  <a:srgbClr val="1E2E5D"/>
                </a:solidFill>
                <a:latin typeface="Cascadia Mono SemiBold"/>
                <a:cs typeface="Cascadia Mono SemiBold"/>
                <a:ea typeface="Cascadia Mono SemiBold"/>
              </a:rPr>
              <a:t>SAP</a:t>
            </a:r>
            <a:r>
              <a:rPr sz="6400" b="1" lang="ar-EG">
                <a:solidFill>
                  <a:srgbClr val="1E2E5D"/>
                </a:solidFill>
                <a:latin typeface="Choco Bold"/>
                <a:cs typeface="Choco Bold"/>
                <a:ea typeface="Choco Bold"/>
              </a:rPr>
              <a:t>?</a:t>
            </a:r>
          </a:p>
        </p:txBody>
      </p:sp>
      <p:sp>
        <p:nvSpPr>
          <p:cNvPr id="7" name="TextBox 6"/>
          <p:cNvSpPr txBox="1"/>
          <p:nvPr/>
        </p:nvSpPr>
        <p:spPr>
          <a:xfrm>
            <a:off x="683920" y="1479693"/>
            <a:ext cx="6096000" cy="589905"/>
          </a:xfrm>
          <a:prstGeom prst="rect">
            <a:avLst/>
          </a:prstGeom>
          <a:noFill/>
        </p:spPr>
        <p:txBody>
          <a:bodyPr wrap="square">
            <a:noAutofit/>
          </a:bodyPr>
          <a:lstStyle/>
          <a:p>
            <a:pPr rtl="1" algn="ctr">
              <a:lnSpc>
                <a:spcPts val="2300"/>
              </a:lnSpc>
            </a:pPr>
            <a:r>
              <a:rPr sz="2300" b="1" lang="he-IL">
                <a:solidFill>
                  <a:srgbClr val="3A4F8B"/>
                </a:solidFill>
                <a:latin typeface="Segoe UI"/>
                <a:cs typeface="Segoe UI"/>
                <a:ea typeface="Segoe UI"/>
              </a:rPr>
              <a:t>גרסת אוגוסט </a:t>
            </a:r>
            <a:r>
              <a:rPr sz="2300" b="1" lang="en-US">
                <a:solidFill>
                  <a:srgbClr val="3A4F8B"/>
                </a:solidFill>
                <a:latin typeface="Segoe UI"/>
                <a:cs typeface="Segoe UI"/>
                <a:ea typeface="Segoe UI"/>
              </a:rPr>
              <a:t>2026</a:t>
            </a:r>
            <a:r>
              <a:rPr sz="2300" b="1" lang="he-IL">
                <a:solidFill>
                  <a:srgbClr val="3A4F8B"/>
                </a:solidFill>
                <a:latin typeface="Segoe UI"/>
                <a:cs typeface="Segoe UI"/>
                <a:ea typeface="Segoe UI"/>
              </a:rPr>
              <a:t> - מועד עליה 16/9/26</a:t>
            </a:r>
            <a:r>
              <a:rPr sz="2300" b="1" lang="ar-EG">
                <a:solidFill>
                  <a:srgbClr val="3A4F8B"/>
                </a:solidFill>
                <a:latin typeface="Segoe UI"/>
                <a:cs typeface="Segoe UI"/>
                <a:ea typeface="Segoe UI"/>
              </a:rPr>
              <a:t> </a:t>
            </a:r>
            <a:r>
              <a:rPr sz="2300" b="1" lang="he-IL">
                <a:solidFill>
                  <a:srgbClr val="68BBE3"/>
                </a:solidFill>
                <a:latin typeface="Segoe UI"/>
                <a:cs typeface="Segoe UI"/>
                <a:ea typeface="Segoe UI"/>
              </a:rPr>
              <a:t>
מדור מע”מ</a:t>
            </a:r>
          </a:p>
        </p:txBody>
      </p:sp>
      <p:sp>
        <p:nvSpPr>
          <p:cNvPr id="8" name="TextBox 7"/>
          <p:cNvSpPr txBox="1"/>
          <p:nvPr/>
        </p:nvSpPr>
        <p:spPr>
          <a:xfrm>
            <a:off x="684575" y="2139975"/>
            <a:ext cx="6096000" cy="261867"/>
          </a:xfrm>
          <a:prstGeom prst="rect">
            <a:avLst/>
          </a:prstGeom>
          <a:noFill/>
        </p:spPr>
        <p:txBody>
          <a:bodyPr wrap="square">
            <a:noAutofit/>
          </a:bodyPr>
          <a:lstStyle/>
          <a:p>
            <a:pPr rtl="1" algn="ctr"/>
            <a:r>
              <a:rPr sz="1400" b="1" lang="he-IL">
                <a:solidFill>
                  <a:srgbClr val="3A4F8B"/>
                </a:solidFill>
                <a:latin typeface="Segoe UI"/>
                <a:cs typeface="Segoe UI"/>
                <a:ea typeface="Segoe UI"/>
              </a:rPr>
              <a:t>גרסאות עתידיות 21/10/26 + 7/10/26</a:t>
            </a:r>
          </a:p>
        </p:txBody>
      </p:sp>
      <p:sp>
        <p:nvSpPr>
          <p:cNvPr id="9" name="TextBox 8"/>
          <p:cNvSpPr txBox="1"/>
          <p:nvPr/>
        </p:nvSpPr>
        <p:spPr>
          <a:xfrm>
            <a:off x="0" y="18570540"/>
            <a:ext cx="7620000" cy="296235"/>
          </a:xfrm>
          <a:prstGeom prst="rect">
            <a:avLst/>
          </a:prstGeom>
          <a:noFill/>
        </p:spPr>
        <p:txBody>
          <a:bodyPr wrap="square">
            <a:noAutofit/>
          </a:bodyPr>
          <a:lstStyle/>
          <a:p>
            <a:pPr rtl="1" algn="ctr"/>
            <a:r>
              <a:rPr sz="1700" b="1" lang="he-IL">
                <a:solidFill>
                  <a:srgbClr val="FFFFFF"/>
                </a:solidFill>
                <a:latin typeface="Guttman Yad-Brush"/>
                <a:cs typeface="Guttman Yad-Brush"/>
                <a:ea typeface="Guttman Yad-Brush"/>
              </a:rPr>
              <a:t>כשטכנולוגיה פוגשת אנשים</a:t>
            </a:r>
          </a:p>
        </p:txBody>
      </p:sp>
      <p:sp>
        <p:nvSpPr>
          <p:cNvPr id="10" name="TextBox 9"/>
          <p:cNvSpPr txBox="1"/>
          <p:nvPr/>
        </p:nvSpPr>
        <p:spPr>
          <a:xfrm>
            <a:off x="218909" y="2769217"/>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מדור תכנון סיירות ולחימה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מסך סיירות - השלכות</a:t>
            </a:r>
          </a:p>
        </p:txBody>
      </p:sp>
      <p:sp>
        <p:nvSpPr>
          <p:cNvPr id="11" name="TextBox 10"/>
          <p:cNvSpPr txBox="1"/>
          <p:nvPr/>
        </p:nvSpPr>
        <p:spPr>
          <a:xfrm>
            <a:off x="539083" y="3160502"/>
            <a:ext cx="5143320" cy="1316736"/>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עד היום, למי שהיה סטטוס מיון "הפרשה יזומה", בהשלכה ל9669, הסטטוס הסופי היה נשאר ריק. נוספה השלכה שהסטטוס הסופי יתעדכן ל"לא התקבל".</a:t>
            </a:r>
          </a:p>
        </p:txBody>
      </p:sp>
      <p:cxnSp>
        <p:nvCxnSpPr>
          <p:cNvPr id="12" name="Connector 11"/>
          <p:cNvCxnSpPr/>
          <p:nvPr/>
        </p:nvCxnSpPr>
        <p:spPr>
          <a:xfrm>
            <a:off x="6323881" y="3438646"/>
            <a:ext cx="0" cy="748753"/>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60308" y="4163587"/>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16" name="Group 15"/>
          <p:cNvGrpSpPr/>
          <p:nvPr/>
        </p:nvGrpSpPr>
        <p:grpSpPr>
          <a:xfrm>
            <a:off x="5895762" y="3384903"/>
            <a:ext cx="856239" cy="856239"/>
            <a:chOff x="5895762" y="3384903"/>
            <a:chExt cx="856239" cy="856239"/>
          </a:xfrm>
        </p:grpSpPr>
        <p:sp>
          <p:nvSpPr>
            <p:cNvPr id="14" name="Oval 13"/>
            <p:cNvSpPr/>
            <p:nvPr/>
          </p:nvSpPr>
          <p:spPr>
            <a:xfrm>
              <a:off x="5895762" y="3384903"/>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5762" y="3384903"/>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17</a:t>
              </a:r>
            </a:p>
          </p:txBody>
        </p:sp>
      </p:grpSp>
      <p:sp>
        <p:nvSpPr>
          <p:cNvPr id="17" name="TextBox 16"/>
          <p:cNvSpPr txBox="1"/>
          <p:nvPr/>
        </p:nvSpPr>
        <p:spPr>
          <a:xfrm>
            <a:off x="1617765" y="4366787"/>
            <a:ext cx="5647223" cy="704088"/>
          </a:xfrm>
          <a:prstGeom prst="rect">
            <a:avLst/>
          </a:prstGeom>
          <a:noFill/>
        </p:spPr>
        <p:txBody>
          <a:bodyPr wrap="square">
            <a:spAutoFit/>
          </a:bodyPr>
          <a:lstStyle/>
          <a:p>
            <a:pPr rtl="1" algn="r"/>
            <a:r>
              <a:rPr sz="1800" b="1" lang="he-IL">
                <a:solidFill>
                  <a:srgbClr val="004AAD"/>
                </a:solidFill>
                <a:latin typeface="Segoe UI"/>
                <a:cs typeface="Segoe UI"/>
                <a:ea typeface="Segoe UI"/>
              </a:rPr>
              <a:t>מדור תתקדמו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גורם מאשר בסוג מידע הנחיות / הערות</a:t>
            </a:r>
          </a:p>
        </p:txBody>
      </p:sp>
      <p:sp>
        <p:nvSpPr>
          <p:cNvPr id="18" name="TextBox 17"/>
          <p:cNvSpPr txBox="1"/>
          <p:nvPr/>
        </p:nvSpPr>
        <p:spPr>
          <a:xfrm>
            <a:off x="1521457" y="5064396"/>
            <a:ext cx="5559802"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הוספת רמ"ד תתקדמו לגורם מאשר בסוג מידע 9148 תת סוג 04.</a:t>
            </a:r>
          </a:p>
        </p:txBody>
      </p:sp>
      <p:cxnSp>
        <p:nvCxnSpPr>
          <p:cNvPr id="19" name="Connector 18"/>
          <p:cNvCxnSpPr/>
          <p:nvPr/>
        </p:nvCxnSpPr>
        <p:spPr>
          <a:xfrm>
            <a:off x="1081700" y="4139775"/>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60308" y="6096001"/>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23" name="Group 22"/>
          <p:cNvGrpSpPr/>
          <p:nvPr/>
        </p:nvGrpSpPr>
        <p:grpSpPr>
          <a:xfrm>
            <a:off x="653581" y="4689768"/>
            <a:ext cx="856239" cy="856239"/>
            <a:chOff x="653581" y="4689768"/>
            <a:chExt cx="856239" cy="856239"/>
          </a:xfrm>
        </p:grpSpPr>
        <p:sp>
          <p:nvSpPr>
            <p:cNvPr id="21" name="Oval 20"/>
            <p:cNvSpPr/>
            <p:nvPr/>
          </p:nvSpPr>
          <p:spPr>
            <a:xfrm>
              <a:off x="653581" y="4689768"/>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581" y="4689768"/>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18</a:t>
              </a:r>
            </a:p>
          </p:txBody>
        </p:sp>
      </p:grpSp>
      <p:sp>
        <p:nvSpPr>
          <p:cNvPr id="24" name="TextBox 23"/>
          <p:cNvSpPr txBox="1"/>
          <p:nvPr/>
        </p:nvSpPr>
        <p:spPr>
          <a:xfrm>
            <a:off x="164917" y="6299201"/>
            <a:ext cx="5647223" cy="704088"/>
          </a:xfrm>
          <a:prstGeom prst="rect">
            <a:avLst/>
          </a:prstGeom>
          <a:noFill/>
        </p:spPr>
        <p:txBody>
          <a:bodyPr wrap="square">
            <a:spAutoFit/>
          </a:bodyPr>
          <a:lstStyle/>
          <a:p>
            <a:pPr rtl="1" algn="r"/>
            <a:r>
              <a:rPr sz="1800" b="1" lang="he-IL">
                <a:solidFill>
                  <a:srgbClr val="004AAD"/>
                </a:solidFill>
                <a:latin typeface="Segoe UI"/>
                <a:cs typeface="Segoe UI"/>
                <a:ea typeface="Segoe UI"/>
              </a:rPr>
              <a:t>מדור תתקדמו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גורם מאשר בסוג מידע השארות ובסוג מידע זימונים</a:t>
            </a:r>
          </a:p>
        </p:txBody>
      </p:sp>
      <p:sp>
        <p:nvSpPr>
          <p:cNvPr id="25" name="TextBox 24"/>
          <p:cNvSpPr txBox="1"/>
          <p:nvPr/>
        </p:nvSpPr>
        <p:spPr>
          <a:xfrm>
            <a:off x="571680" y="6996810"/>
            <a:ext cx="5143320"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הוספת רמ"ד תתקדמו לגורם מאשר בסוג מידע 9142 (תתי סוג 21, 33,05) ומזהה חותם בסוג מידע 9160 תת סוג 02.</a:t>
            </a:r>
          </a:p>
        </p:txBody>
      </p:sp>
      <p:cxnSp>
        <p:nvCxnSpPr>
          <p:cNvPr id="26" name="Connector 25"/>
          <p:cNvCxnSpPr/>
          <p:nvPr/>
        </p:nvCxnSpPr>
        <p:spPr>
          <a:xfrm>
            <a:off x="6323881" y="6072188"/>
            <a:ext cx="0" cy="195480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55852" y="8005218"/>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30" name="Group 29"/>
          <p:cNvGrpSpPr/>
          <p:nvPr/>
        </p:nvGrpSpPr>
        <p:grpSpPr>
          <a:xfrm>
            <a:off x="5895762" y="6621468"/>
            <a:ext cx="856239" cy="856239"/>
            <a:chOff x="5895762" y="6621468"/>
            <a:chExt cx="856239" cy="856239"/>
          </a:xfrm>
        </p:grpSpPr>
        <p:sp>
          <p:nvSpPr>
            <p:cNvPr id="28" name="Oval 27"/>
            <p:cNvSpPr/>
            <p:nvPr/>
          </p:nvSpPr>
          <p:spPr>
            <a:xfrm>
              <a:off x="5895762" y="6621468"/>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95762" y="6621468"/>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19</a:t>
              </a:r>
            </a:p>
          </p:txBody>
        </p:sp>
      </p:grpSp>
      <p:sp>
        <p:nvSpPr>
          <p:cNvPr id="31" name="TextBox 30"/>
          <p:cNvSpPr txBox="1"/>
          <p:nvPr/>
        </p:nvSpPr>
        <p:spPr>
          <a:xfrm>
            <a:off x="1377359" y="8208418"/>
            <a:ext cx="588317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מודל תחנות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חיפוש לפי שם</a:t>
            </a:r>
          </a:p>
        </p:txBody>
      </p:sp>
      <p:sp>
        <p:nvSpPr>
          <p:cNvPr id="32" name="TextBox 31"/>
          <p:cNvSpPr txBox="1"/>
          <p:nvPr/>
        </p:nvSpPr>
        <p:spPr>
          <a:xfrm>
            <a:off x="1521457" y="8599703"/>
            <a:ext cx="5559802" cy="499872"/>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תוקנה האופציה לבצע חיפוש לפי שם.</a:t>
            </a:r>
          </a:p>
        </p:txBody>
      </p:sp>
      <p:cxnSp>
        <p:nvCxnSpPr>
          <p:cNvPr id="33" name="Connector 32"/>
          <p:cNvCxnSpPr/>
          <p:nvPr/>
        </p:nvCxnSpPr>
        <p:spPr>
          <a:xfrm>
            <a:off x="1077244" y="7981406"/>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55852" y="9937633"/>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37" name="Group 36"/>
          <p:cNvGrpSpPr/>
          <p:nvPr/>
        </p:nvGrpSpPr>
        <p:grpSpPr>
          <a:xfrm>
            <a:off x="649125" y="8531399"/>
            <a:ext cx="856239" cy="856239"/>
            <a:chOff x="649125" y="8531399"/>
            <a:chExt cx="856239" cy="856239"/>
          </a:xfrm>
        </p:grpSpPr>
        <p:sp>
          <p:nvSpPr>
            <p:cNvPr id="35" name="Oval 34"/>
            <p:cNvSpPr/>
            <p:nvPr/>
          </p:nvSpPr>
          <p:spPr>
            <a:xfrm>
              <a:off x="649125" y="8531399"/>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9125" y="8531399"/>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20</a:t>
              </a:r>
            </a:p>
          </p:txBody>
        </p:sp>
      </p:grpSp>
      <p:sp>
        <p:nvSpPr>
          <p:cNvPr id="38" name="TextBox 37"/>
          <p:cNvSpPr txBox="1"/>
          <p:nvPr/>
        </p:nvSpPr>
        <p:spPr>
          <a:xfrm>
            <a:off x="213537" y="10140833"/>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מודל תחנות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תיקון לחיפוש לפי שם</a:t>
            </a:r>
          </a:p>
        </p:txBody>
      </p:sp>
      <p:sp>
        <p:nvSpPr>
          <p:cNvPr id="39" name="TextBox 38"/>
          <p:cNvSpPr txBox="1"/>
          <p:nvPr/>
        </p:nvSpPr>
        <p:spPr>
          <a:xfrm>
            <a:off x="304800" y="10532118"/>
            <a:ext cx="5372231" cy="499872"/>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תוקן באג שגרם לקפיצת חלונות בחיפוש לפי שם.</a:t>
            </a:r>
          </a:p>
        </p:txBody>
      </p:sp>
      <p:cxnSp>
        <p:nvCxnSpPr>
          <p:cNvPr id="40" name="Connector 39"/>
          <p:cNvCxnSpPr/>
          <p:nvPr/>
        </p:nvCxnSpPr>
        <p:spPr>
          <a:xfrm>
            <a:off x="6319425" y="9913820"/>
            <a:ext cx="0" cy="195480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5852" y="11868620"/>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44" name="Group 43"/>
          <p:cNvGrpSpPr/>
          <p:nvPr/>
        </p:nvGrpSpPr>
        <p:grpSpPr>
          <a:xfrm>
            <a:off x="5891306" y="10463100"/>
            <a:ext cx="856239" cy="856239"/>
            <a:chOff x="5891306" y="10463100"/>
            <a:chExt cx="856239" cy="856239"/>
          </a:xfrm>
        </p:grpSpPr>
        <p:sp>
          <p:nvSpPr>
            <p:cNvPr id="42" name="Oval 41"/>
            <p:cNvSpPr/>
            <p:nvPr/>
          </p:nvSpPr>
          <p:spPr>
            <a:xfrm>
              <a:off x="5891306" y="10463100"/>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91306" y="10463100"/>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21</a:t>
              </a:r>
            </a:p>
          </p:txBody>
        </p:sp>
      </p:grpSp>
      <p:sp>
        <p:nvSpPr>
          <p:cNvPr id="45" name="TextBox 44"/>
          <p:cNvSpPr txBox="1"/>
          <p:nvPr/>
        </p:nvSpPr>
        <p:spPr>
          <a:xfrm>
            <a:off x="1613309" y="12071820"/>
            <a:ext cx="5647223" cy="704088"/>
          </a:xfrm>
          <a:prstGeom prst="rect">
            <a:avLst/>
          </a:prstGeom>
          <a:noFill/>
        </p:spPr>
        <p:txBody>
          <a:bodyPr wrap="square">
            <a:spAutoFit/>
          </a:bodyPr>
          <a:lstStyle/>
          <a:p>
            <a:pPr rtl="1" algn="r"/>
            <a:r>
              <a:rPr sz="1800" b="1" lang="he-IL">
                <a:solidFill>
                  <a:srgbClr val="004AAD"/>
                </a:solidFill>
                <a:latin typeface="Segoe UI"/>
                <a:cs typeface="Segoe UI"/>
                <a:ea typeface="Segoe UI"/>
              </a:rPr>
              <a:t>ממד"ה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עדכון פרמטרים - דפ"ר + מדד מנהיגות + מדד תכנוני</a:t>
            </a:r>
          </a:p>
        </p:txBody>
      </p:sp>
      <p:sp>
        <p:nvSpPr>
          <p:cNvPr id="46" name="TextBox 45"/>
          <p:cNvSpPr txBox="1"/>
          <p:nvPr/>
        </p:nvSpPr>
        <p:spPr>
          <a:xfrm>
            <a:off x="1676400" y="12769429"/>
            <a:ext cx="5559802"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נוספה תקופת חישוב חדשה לדפ"ר, למדד תכנוני ומדד מנהיגות. תקופת החישוב החלה בתאריך 1/9/26.</a:t>
            </a:r>
          </a:p>
        </p:txBody>
      </p:sp>
      <p:cxnSp>
        <p:nvCxnSpPr>
          <p:cNvPr id="47" name="Connector 46"/>
          <p:cNvCxnSpPr/>
          <p:nvPr/>
        </p:nvCxnSpPr>
        <p:spPr>
          <a:xfrm>
            <a:off x="1077244" y="11844808"/>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055851" y="13799607"/>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51" name="Group 50"/>
          <p:cNvGrpSpPr/>
          <p:nvPr/>
        </p:nvGrpSpPr>
        <p:grpSpPr>
          <a:xfrm>
            <a:off x="649125" y="12394801"/>
            <a:ext cx="856239" cy="856239"/>
            <a:chOff x="649125" y="12394801"/>
            <a:chExt cx="856239" cy="856239"/>
          </a:xfrm>
        </p:grpSpPr>
        <p:sp>
          <p:nvSpPr>
            <p:cNvPr id="49" name="Oval 48"/>
            <p:cNvSpPr/>
            <p:nvPr/>
          </p:nvSpPr>
          <p:spPr>
            <a:xfrm>
              <a:off x="649125" y="12394801"/>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9125" y="12394801"/>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22</a:t>
              </a:r>
            </a:p>
          </p:txBody>
        </p:sp>
      </p:grpSp>
      <p:sp>
        <p:nvSpPr>
          <p:cNvPr id="52" name="TextBox 51"/>
          <p:cNvSpPr txBox="1"/>
          <p:nvPr/>
        </p:nvSpPr>
        <p:spPr>
          <a:xfrm>
            <a:off x="224975" y="14002807"/>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משתמטים במלש"בייה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הרשאות לפוקדים במילואים</a:t>
            </a:r>
          </a:p>
        </p:txBody>
      </p:sp>
      <p:sp>
        <p:nvSpPr>
          <p:cNvPr id="53" name="TextBox 52"/>
          <p:cNvSpPr txBox="1"/>
          <p:nvPr/>
        </p:nvSpPr>
        <p:spPr>
          <a:xfrm>
            <a:off x="304800" y="14394092"/>
            <a:ext cx="5383669" cy="499872"/>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מתן הרשאה לפוקדים במילואים ליותר מלשכה אחת.</a:t>
            </a:r>
          </a:p>
        </p:txBody>
      </p:sp>
      <p:cxnSp>
        <p:nvCxnSpPr>
          <p:cNvPr id="54" name="Connector 53"/>
          <p:cNvCxnSpPr/>
          <p:nvPr/>
        </p:nvCxnSpPr>
        <p:spPr>
          <a:xfrm>
            <a:off x="6319424" y="13775794"/>
            <a:ext cx="0" cy="195480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55850" y="15737851"/>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58" name="Group 57"/>
          <p:cNvGrpSpPr/>
          <p:nvPr/>
        </p:nvGrpSpPr>
        <p:grpSpPr>
          <a:xfrm>
            <a:off x="5891305" y="14325074"/>
            <a:ext cx="856239" cy="856239"/>
            <a:chOff x="5891305" y="14325074"/>
            <a:chExt cx="856239" cy="856239"/>
          </a:xfrm>
        </p:grpSpPr>
        <p:sp>
          <p:nvSpPr>
            <p:cNvPr id="56" name="Oval 55"/>
            <p:cNvSpPr/>
            <p:nvPr/>
          </p:nvSpPr>
          <p:spPr>
            <a:xfrm>
              <a:off x="5891305" y="14325074"/>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891305" y="14325074"/>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23</a:t>
              </a:r>
            </a:p>
          </p:txBody>
        </p:sp>
      </p:grpSp>
      <p:sp>
        <p:nvSpPr>
          <p:cNvPr id="59" name="TextBox 58"/>
          <p:cNvSpPr txBox="1"/>
          <p:nvPr/>
        </p:nvSpPr>
        <p:spPr>
          <a:xfrm>
            <a:off x="1613309" y="15941051"/>
            <a:ext cx="5647223" cy="704088"/>
          </a:xfrm>
          <a:prstGeom prst="rect">
            <a:avLst/>
          </a:prstGeom>
          <a:noFill/>
        </p:spPr>
        <p:txBody>
          <a:bodyPr wrap="square">
            <a:spAutoFit/>
          </a:bodyPr>
          <a:lstStyle/>
          <a:p>
            <a:pPr rtl="1" algn="r"/>
            <a:r>
              <a:rPr sz="1800" b="1" lang="he-IL">
                <a:solidFill>
                  <a:srgbClr val="004AAD"/>
                </a:solidFill>
                <a:latin typeface="Segoe UI"/>
                <a:cs typeface="Segoe UI"/>
                <a:ea typeface="Segoe UI"/>
              </a:rPr>
              <a:t>קצין מיון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שינוי עיצוב - תוספות - הורדת 0 מהמספר האישי</a:t>
            </a:r>
          </a:p>
        </p:txBody>
      </p:sp>
      <p:sp>
        <p:nvSpPr>
          <p:cNvPr id="60" name="TextBox 59"/>
          <p:cNvSpPr txBox="1"/>
          <p:nvPr/>
        </p:nvSpPr>
        <p:spPr>
          <a:xfrm>
            <a:off x="1457631" y="16638660"/>
            <a:ext cx="5559802"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תוקנה התצוגה של המספר האישי במסך כך שיוצג ויועתק ללא 0.</a:t>
            </a:r>
          </a:p>
        </p:txBody>
      </p:sp>
      <p:cxnSp>
        <p:nvCxnSpPr>
          <p:cNvPr id="61" name="Connector 60"/>
          <p:cNvCxnSpPr/>
          <p:nvPr/>
        </p:nvCxnSpPr>
        <p:spPr>
          <a:xfrm>
            <a:off x="1077242" y="15714039"/>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55850" y="17670265"/>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65" name="Group 64"/>
          <p:cNvGrpSpPr/>
          <p:nvPr/>
        </p:nvGrpSpPr>
        <p:grpSpPr>
          <a:xfrm>
            <a:off x="649123" y="16264032"/>
            <a:ext cx="856239" cy="856239"/>
            <a:chOff x="649123" y="16264032"/>
            <a:chExt cx="856239" cy="856239"/>
          </a:xfrm>
        </p:grpSpPr>
        <p:sp>
          <p:nvSpPr>
            <p:cNvPr id="63" name="Oval 62"/>
            <p:cNvSpPr/>
            <p:nvPr/>
          </p:nvSpPr>
          <p:spPr>
            <a:xfrm>
              <a:off x="649123" y="16264032"/>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9123" y="16264032"/>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24</a:t>
              </a:r>
            </a:p>
          </p:txBody>
        </p:sp>
      </p:grpSp>
      <p:cxnSp>
        <p:nvCxnSpPr>
          <p:cNvPr id="66" name="Connector 65"/>
          <p:cNvCxnSpPr/>
          <p:nvPr/>
        </p:nvCxnSpPr>
        <p:spPr>
          <a:xfrm>
            <a:off x="6319423" y="17646452"/>
            <a:ext cx="0" cy="468000"/>
          </a:xfrm>
          <a:prstGeom prst="line">
            <a:avLst/>
          </a:prstGeom>
          <a:ln w="63500">
            <a:solidFill>
              <a:srgbClr val="004AAD"/>
            </a:solidFill>
          </a:ln>
          <a:effectLst>
            <a:reflection blurRad="6350" stA="50000" stPos="0" endA="300" endPos="35000" dist="0" dir="5400000" fadeDir="5400000" sy="-100000" algn="bl" rotWithShape="0"/>
          </a:effectLst>
        </p:spPr>
        <p:style>
          <a:lnRef idx="2">
            <a:schemeClr val="accent1"/>
          </a:lnRef>
          <a:fillRef idx="0">
            <a:schemeClr val="accent1"/>
          </a:fillRef>
          <a:effectRef idx="1">
            <a:schemeClr val="accent1"/>
          </a:effectRef>
          <a:fontRef idx="minor">
            <a:schemeClr val="tx1"/>
          </a:fontRef>
        </p:style>
      </p:cxnSp>
      <p:pic>
        <p:nvPicPr>
          <p:cNvPr id="67" name="Picture 66" descr="PicturePeople.png"/>
          <p:cNvPicPr>
            <a:picLocks noChangeAspect="1"/>
          </p:cNvPicPr>
          <p:nvPr/>
        </p:nvPicPr>
        <p:blipFill>
          <a:blip r:embed="rId4"/>
          <a:stretch>
            <a:fillRect/>
          </a:stretch>
        </p:blipFill>
        <p:spPr>
          <a:xfrm>
            <a:off x="28789" y="17368014"/>
            <a:ext cx="2129096" cy="168198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5FA"/>
        </a:solidFill>
        <a:effectLst/>
      </p:bgPr>
    </p:bg>
    <p:spTree>
      <p:nvGrpSpPr>
        <p:cNvPr id="1" name=""/>
        <p:cNvGrpSpPr/>
        <p:nvPr/>
      </p:nvGrpSpPr>
      <p:grpSpPr/>
      <p:sp>
        <p:nvSpPr>
          <p:cNvPr id="2" name="Rectangle 1"/>
          <p:cNvSpPr/>
          <p:nvPr/>
        </p:nvSpPr>
        <p:spPr>
          <a:xfrm>
            <a:off x="129294" y="300068"/>
            <a:ext cx="7361412" cy="226594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ictureLogo.png"/>
          <p:cNvPicPr>
            <a:picLocks noChangeAspect="1"/>
          </p:cNvPicPr>
          <p:nvPr/>
        </p:nvPicPr>
        <p:blipFill>
          <a:blip r:embed="rId2"/>
          <a:stretch>
            <a:fillRect/>
          </a:stretch>
        </p:blipFill>
        <p:spPr>
          <a:xfrm>
            <a:off x="129294" y="311007"/>
            <a:ext cx="1072462" cy="1201987"/>
          </a:xfrm>
          <a:prstGeom prst="rect">
            <a:avLst/>
          </a:prstGeom>
        </p:spPr>
      </p:pic>
      <p:pic>
        <p:nvPicPr>
          <p:cNvPr id="4" name="Picture 3" descr="PictureShield.png"/>
          <p:cNvPicPr>
            <a:picLocks noChangeAspect="1"/>
          </p:cNvPicPr>
          <p:nvPr/>
        </p:nvPicPr>
        <p:blipFill>
          <a:blip r:embed="rId3"/>
          <a:stretch>
            <a:fillRect/>
          </a:stretch>
        </p:blipFill>
        <p:spPr>
          <a:xfrm>
            <a:off x="6761525" y="462339"/>
            <a:ext cx="638880" cy="899321"/>
          </a:xfrm>
          <a:prstGeom prst="rect">
            <a:avLst/>
          </a:prstGeom>
        </p:spPr>
      </p:pic>
      <p:sp>
        <p:nvSpPr>
          <p:cNvPr id="5" name="Rectangle 4"/>
          <p:cNvSpPr/>
          <p:nvPr/>
        </p:nvSpPr>
        <p:spPr>
          <a:xfrm>
            <a:off x="-134306" y="18432419"/>
            <a:ext cx="7888611" cy="757937"/>
          </a:xfrm>
          <a:prstGeom prst="rect">
            <a:avLst/>
          </a:prstGeom>
          <a:solidFill>
            <a:srgbClr val="5F90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2460" y="503130"/>
            <a:ext cx="6096000" cy="820738"/>
          </a:xfrm>
          <a:prstGeom prst="rect">
            <a:avLst/>
          </a:prstGeom>
          <a:noFill/>
        </p:spPr>
        <p:txBody>
          <a:bodyPr wrap="square">
            <a:noAutofit/>
          </a:bodyPr>
          <a:lstStyle/>
          <a:p>
            <a:pPr rtl="1" algn="ctr">
              <a:lnSpc>
                <a:spcPts val="6400"/>
              </a:lnSpc>
            </a:pPr>
            <a:r>
              <a:rPr sz="6400" b="1" lang="he-IL">
                <a:solidFill>
                  <a:srgbClr val="1E2E5D"/>
                </a:solidFill>
                <a:latin typeface="Choco Bold"/>
                <a:cs typeface="Choco Bold"/>
                <a:ea typeface="Choco Bold"/>
              </a:rPr>
              <a:t>מה חדש ב</a:t>
            </a:r>
            <a:r>
              <a:rPr sz="6400" b="1" lang="en-US">
                <a:solidFill>
                  <a:srgbClr val="1E2E5D"/>
                </a:solidFill>
                <a:latin typeface="Cascadia Mono SemiBold"/>
                <a:cs typeface="Cascadia Mono SemiBold"/>
                <a:ea typeface="Cascadia Mono SemiBold"/>
              </a:rPr>
              <a:t>SAP</a:t>
            </a:r>
            <a:r>
              <a:rPr sz="6400" b="1" lang="ar-EG">
                <a:solidFill>
                  <a:srgbClr val="1E2E5D"/>
                </a:solidFill>
                <a:latin typeface="Choco Bold"/>
                <a:cs typeface="Choco Bold"/>
                <a:ea typeface="Choco Bold"/>
              </a:rPr>
              <a:t>?</a:t>
            </a:r>
          </a:p>
        </p:txBody>
      </p:sp>
      <p:sp>
        <p:nvSpPr>
          <p:cNvPr id="7" name="TextBox 6"/>
          <p:cNvSpPr txBox="1"/>
          <p:nvPr/>
        </p:nvSpPr>
        <p:spPr>
          <a:xfrm>
            <a:off x="683920" y="1479693"/>
            <a:ext cx="6096000" cy="589905"/>
          </a:xfrm>
          <a:prstGeom prst="rect">
            <a:avLst/>
          </a:prstGeom>
          <a:noFill/>
        </p:spPr>
        <p:txBody>
          <a:bodyPr wrap="square">
            <a:noAutofit/>
          </a:bodyPr>
          <a:lstStyle/>
          <a:p>
            <a:pPr rtl="1" algn="ctr">
              <a:lnSpc>
                <a:spcPts val="2300"/>
              </a:lnSpc>
            </a:pPr>
            <a:r>
              <a:rPr sz="2300" b="1" lang="he-IL">
                <a:solidFill>
                  <a:srgbClr val="3A4F8B"/>
                </a:solidFill>
                <a:latin typeface="Segoe UI"/>
                <a:cs typeface="Segoe UI"/>
                <a:ea typeface="Segoe UI"/>
              </a:rPr>
              <a:t>גרסת אוגוסט </a:t>
            </a:r>
            <a:r>
              <a:rPr sz="2300" b="1" lang="en-US">
                <a:solidFill>
                  <a:srgbClr val="3A4F8B"/>
                </a:solidFill>
                <a:latin typeface="Segoe UI"/>
                <a:cs typeface="Segoe UI"/>
                <a:ea typeface="Segoe UI"/>
              </a:rPr>
              <a:t>2026</a:t>
            </a:r>
            <a:r>
              <a:rPr sz="2300" b="1" lang="he-IL">
                <a:solidFill>
                  <a:srgbClr val="3A4F8B"/>
                </a:solidFill>
                <a:latin typeface="Segoe UI"/>
                <a:cs typeface="Segoe UI"/>
                <a:ea typeface="Segoe UI"/>
              </a:rPr>
              <a:t> - מועד עליה 16/9/26</a:t>
            </a:r>
            <a:r>
              <a:rPr sz="2300" b="1" lang="ar-EG">
                <a:solidFill>
                  <a:srgbClr val="3A4F8B"/>
                </a:solidFill>
                <a:latin typeface="Segoe UI"/>
                <a:cs typeface="Segoe UI"/>
                <a:ea typeface="Segoe UI"/>
              </a:rPr>
              <a:t> </a:t>
            </a:r>
            <a:r>
              <a:rPr sz="2300" b="1" lang="he-IL">
                <a:solidFill>
                  <a:srgbClr val="68BBE3"/>
                </a:solidFill>
                <a:latin typeface="Segoe UI"/>
                <a:cs typeface="Segoe UI"/>
                <a:ea typeface="Segoe UI"/>
              </a:rPr>
              <a:t>
מדור מע”מ</a:t>
            </a:r>
          </a:p>
        </p:txBody>
      </p:sp>
      <p:sp>
        <p:nvSpPr>
          <p:cNvPr id="8" name="TextBox 7"/>
          <p:cNvSpPr txBox="1"/>
          <p:nvPr/>
        </p:nvSpPr>
        <p:spPr>
          <a:xfrm>
            <a:off x="684575" y="2139975"/>
            <a:ext cx="6096000" cy="261867"/>
          </a:xfrm>
          <a:prstGeom prst="rect">
            <a:avLst/>
          </a:prstGeom>
          <a:noFill/>
        </p:spPr>
        <p:txBody>
          <a:bodyPr wrap="square">
            <a:noAutofit/>
          </a:bodyPr>
          <a:lstStyle/>
          <a:p>
            <a:pPr rtl="1" algn="ctr"/>
            <a:r>
              <a:rPr sz="1400" b="1" lang="he-IL">
                <a:solidFill>
                  <a:srgbClr val="3A4F8B"/>
                </a:solidFill>
                <a:latin typeface="Segoe UI"/>
                <a:cs typeface="Segoe UI"/>
                <a:ea typeface="Segoe UI"/>
              </a:rPr>
              <a:t>גרסאות עתידיות 21/10/26 + 7/10/26</a:t>
            </a:r>
          </a:p>
        </p:txBody>
      </p:sp>
      <p:sp>
        <p:nvSpPr>
          <p:cNvPr id="9" name="TextBox 8"/>
          <p:cNvSpPr txBox="1"/>
          <p:nvPr/>
        </p:nvSpPr>
        <p:spPr>
          <a:xfrm>
            <a:off x="0" y="18570540"/>
            <a:ext cx="7620000" cy="296235"/>
          </a:xfrm>
          <a:prstGeom prst="rect">
            <a:avLst/>
          </a:prstGeom>
          <a:noFill/>
        </p:spPr>
        <p:txBody>
          <a:bodyPr wrap="square">
            <a:noAutofit/>
          </a:bodyPr>
          <a:lstStyle/>
          <a:p>
            <a:pPr rtl="1" algn="ctr"/>
            <a:r>
              <a:rPr sz="1700" b="1" lang="he-IL">
                <a:solidFill>
                  <a:srgbClr val="FFFFFF"/>
                </a:solidFill>
                <a:latin typeface="Guttman Yad-Brush"/>
                <a:cs typeface="Guttman Yad-Brush"/>
                <a:ea typeface="Guttman Yad-Brush"/>
              </a:rPr>
              <a:t>כשטכנולוגיה פוגשת אנשים</a:t>
            </a:r>
          </a:p>
        </p:txBody>
      </p:sp>
      <p:sp>
        <p:nvSpPr>
          <p:cNvPr id="10" name="TextBox 9"/>
          <p:cNvSpPr txBox="1"/>
          <p:nvPr/>
        </p:nvSpPr>
        <p:spPr>
          <a:xfrm>
            <a:off x="218909" y="2769217"/>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קצין מיון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שינוי עיצוב - תוספות - כפתור אינ' צמוד</a:t>
            </a:r>
          </a:p>
        </p:txBody>
      </p:sp>
      <p:sp>
        <p:nvSpPr>
          <p:cNvPr id="11" name="TextBox 10"/>
          <p:cNvSpPr txBox="1"/>
          <p:nvPr/>
        </p:nvSpPr>
        <p:spPr>
          <a:xfrm>
            <a:off x="539083" y="3160502"/>
            <a:ext cx="5143320"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תיקון למצב בו ישנן אינ' רבות אצל מספר אישי וכפתור "כל האינדיקציות" משתלב עם האינ' עצמה.</a:t>
            </a:r>
          </a:p>
        </p:txBody>
      </p:sp>
      <p:cxnSp>
        <p:nvCxnSpPr>
          <p:cNvPr id="12" name="Connector 11"/>
          <p:cNvCxnSpPr/>
          <p:nvPr/>
        </p:nvCxnSpPr>
        <p:spPr>
          <a:xfrm>
            <a:off x="6323881" y="3438646"/>
            <a:ext cx="0" cy="748753"/>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60308" y="4163587"/>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16" name="Group 15"/>
          <p:cNvGrpSpPr/>
          <p:nvPr/>
        </p:nvGrpSpPr>
        <p:grpSpPr>
          <a:xfrm>
            <a:off x="5895762" y="3384903"/>
            <a:ext cx="856239" cy="856239"/>
            <a:chOff x="5895762" y="3384903"/>
            <a:chExt cx="856239" cy="856239"/>
          </a:xfrm>
        </p:grpSpPr>
        <p:sp>
          <p:nvSpPr>
            <p:cNvPr id="14" name="Oval 13"/>
            <p:cNvSpPr/>
            <p:nvPr/>
          </p:nvSpPr>
          <p:spPr>
            <a:xfrm>
              <a:off x="5895762" y="3384903"/>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5762" y="3384903"/>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25</a:t>
              </a:r>
            </a:p>
          </p:txBody>
        </p:sp>
      </p:grpSp>
      <p:sp>
        <p:nvSpPr>
          <p:cNvPr id="17" name="TextBox 16"/>
          <p:cNvSpPr txBox="1"/>
          <p:nvPr/>
        </p:nvSpPr>
        <p:spPr>
          <a:xfrm>
            <a:off x="1617765" y="4366787"/>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קצין מיון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מסך קצין מיון - סרגל עליון</a:t>
            </a:r>
          </a:p>
        </p:txBody>
      </p:sp>
      <p:sp>
        <p:nvSpPr>
          <p:cNvPr id="18" name="TextBox 17"/>
          <p:cNvSpPr txBox="1"/>
          <p:nvPr/>
        </p:nvSpPr>
        <p:spPr>
          <a:xfrm>
            <a:off x="1521457" y="4758072"/>
            <a:ext cx="5559802"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הוספת שדה סמכות לסרגל העליון (שדה סמכות מרשומת PA0001).</a:t>
            </a:r>
          </a:p>
        </p:txBody>
      </p:sp>
      <p:cxnSp>
        <p:nvCxnSpPr>
          <p:cNvPr id="19" name="Connector 18"/>
          <p:cNvCxnSpPr/>
          <p:nvPr/>
        </p:nvCxnSpPr>
        <p:spPr>
          <a:xfrm>
            <a:off x="1081700" y="4139775"/>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60308" y="6096001"/>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23" name="Group 22"/>
          <p:cNvGrpSpPr/>
          <p:nvPr/>
        </p:nvGrpSpPr>
        <p:grpSpPr>
          <a:xfrm>
            <a:off x="653581" y="4689768"/>
            <a:ext cx="856239" cy="856239"/>
            <a:chOff x="653581" y="4689768"/>
            <a:chExt cx="856239" cy="856239"/>
          </a:xfrm>
        </p:grpSpPr>
        <p:sp>
          <p:nvSpPr>
            <p:cNvPr id="21" name="Oval 20"/>
            <p:cNvSpPr/>
            <p:nvPr/>
          </p:nvSpPr>
          <p:spPr>
            <a:xfrm>
              <a:off x="653581" y="4689768"/>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581" y="4689768"/>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26</a:t>
              </a:r>
            </a:p>
          </p:txBody>
        </p:sp>
      </p:grpSp>
      <p:sp>
        <p:nvSpPr>
          <p:cNvPr id="24" name="TextBox 23"/>
          <p:cNvSpPr txBox="1"/>
          <p:nvPr/>
        </p:nvSpPr>
        <p:spPr>
          <a:xfrm>
            <a:off x="164917" y="6299201"/>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קצין מיון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מסך קצין מיון - עיצוב</a:t>
            </a:r>
          </a:p>
        </p:txBody>
      </p:sp>
      <p:sp>
        <p:nvSpPr>
          <p:cNvPr id="25" name="TextBox 24"/>
          <p:cNvSpPr txBox="1"/>
          <p:nvPr/>
        </p:nvSpPr>
        <p:spPr>
          <a:xfrm>
            <a:off x="571680" y="6690486"/>
            <a:ext cx="5143320" cy="1725168"/>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עלה עיצוב חדש למסך קציני מיון הכולל:
סרגל עליון, פרטיים אישיים, אינדיקציות, נתוני איכות, יום המא"ה, הנחיות והודעות, לשוניות, נתוני שיבוץ, פופאפים, דף נחיתה, שיקולים.</a:t>
            </a:r>
          </a:p>
        </p:txBody>
      </p:sp>
      <p:cxnSp>
        <p:nvCxnSpPr>
          <p:cNvPr id="26" name="Connector 25"/>
          <p:cNvCxnSpPr/>
          <p:nvPr/>
        </p:nvCxnSpPr>
        <p:spPr>
          <a:xfrm>
            <a:off x="6323881" y="6072188"/>
            <a:ext cx="0" cy="195480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55852" y="8005218"/>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30" name="Group 29"/>
          <p:cNvGrpSpPr/>
          <p:nvPr/>
        </p:nvGrpSpPr>
        <p:grpSpPr>
          <a:xfrm>
            <a:off x="5895762" y="6621468"/>
            <a:ext cx="856239" cy="856239"/>
            <a:chOff x="5895762" y="6621468"/>
            <a:chExt cx="856239" cy="856239"/>
          </a:xfrm>
        </p:grpSpPr>
        <p:sp>
          <p:nvSpPr>
            <p:cNvPr id="28" name="Oval 27"/>
            <p:cNvSpPr/>
            <p:nvPr/>
          </p:nvSpPr>
          <p:spPr>
            <a:xfrm>
              <a:off x="5895762" y="6621468"/>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95762" y="6621468"/>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27</a:t>
              </a:r>
            </a:p>
          </p:txBody>
        </p:sp>
      </p:grpSp>
      <p:sp>
        <p:nvSpPr>
          <p:cNvPr id="31" name="TextBox 30"/>
          <p:cNvSpPr txBox="1"/>
          <p:nvPr/>
        </p:nvSpPr>
        <p:spPr>
          <a:xfrm>
            <a:off x="1377359" y="8208418"/>
            <a:ext cx="588317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קצין מיון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מסך קצין מיון - סוגי שירות</a:t>
            </a:r>
          </a:p>
        </p:txBody>
      </p:sp>
      <p:sp>
        <p:nvSpPr>
          <p:cNvPr id="32" name="TextBox 31"/>
          <p:cNvSpPr txBox="1"/>
          <p:nvPr/>
        </p:nvSpPr>
        <p:spPr>
          <a:xfrm>
            <a:off x="1521457" y="8599703"/>
            <a:ext cx="5559802" cy="1316736"/>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תיקון באגים בחיפוש חיילים עם סו"ש חריג  - בחיפוש חיילים עם סו"ש חריג כחלק מרשימה שהודבקה במסה נגרם אי סדר למספרים האישיים ברשימה.</a:t>
            </a:r>
          </a:p>
        </p:txBody>
      </p:sp>
      <p:cxnSp>
        <p:nvCxnSpPr>
          <p:cNvPr id="33" name="Connector 32"/>
          <p:cNvCxnSpPr/>
          <p:nvPr/>
        </p:nvCxnSpPr>
        <p:spPr>
          <a:xfrm>
            <a:off x="1077244" y="7981406"/>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55852" y="9937633"/>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37" name="Group 36"/>
          <p:cNvGrpSpPr/>
          <p:nvPr/>
        </p:nvGrpSpPr>
        <p:grpSpPr>
          <a:xfrm>
            <a:off x="649125" y="8531399"/>
            <a:ext cx="856239" cy="856239"/>
            <a:chOff x="649125" y="8531399"/>
            <a:chExt cx="856239" cy="856239"/>
          </a:xfrm>
        </p:grpSpPr>
        <p:sp>
          <p:nvSpPr>
            <p:cNvPr id="35" name="Oval 34"/>
            <p:cNvSpPr/>
            <p:nvPr/>
          </p:nvSpPr>
          <p:spPr>
            <a:xfrm>
              <a:off x="649125" y="8531399"/>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9125" y="8531399"/>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28</a:t>
              </a:r>
            </a:p>
          </p:txBody>
        </p:sp>
      </p:grpSp>
      <p:sp>
        <p:nvSpPr>
          <p:cNvPr id="38" name="TextBox 37"/>
          <p:cNvSpPr txBox="1"/>
          <p:nvPr/>
        </p:nvSpPr>
        <p:spPr>
          <a:xfrm>
            <a:off x="213537" y="10140833"/>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קצין מיון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קצין מיון - מספרים אישיים במאסה</a:t>
            </a:r>
          </a:p>
        </p:txBody>
      </p:sp>
      <p:sp>
        <p:nvSpPr>
          <p:cNvPr id="39" name="TextBox 38"/>
          <p:cNvSpPr txBox="1"/>
          <p:nvPr/>
        </p:nvSpPr>
        <p:spPr>
          <a:xfrm>
            <a:off x="304800" y="10532118"/>
            <a:ext cx="5372231"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ריפקטור למנגנון מספרים אישיים במסה - הוספת פיצ'רים חדשים + תיקון באגים קיימים.</a:t>
            </a:r>
          </a:p>
        </p:txBody>
      </p:sp>
      <p:cxnSp>
        <p:nvCxnSpPr>
          <p:cNvPr id="40" name="Connector 39"/>
          <p:cNvCxnSpPr/>
          <p:nvPr/>
        </p:nvCxnSpPr>
        <p:spPr>
          <a:xfrm>
            <a:off x="6319425" y="9913820"/>
            <a:ext cx="0" cy="195480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5852" y="11868620"/>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44" name="Group 43"/>
          <p:cNvGrpSpPr/>
          <p:nvPr/>
        </p:nvGrpSpPr>
        <p:grpSpPr>
          <a:xfrm>
            <a:off x="5891306" y="10463100"/>
            <a:ext cx="856239" cy="856239"/>
            <a:chOff x="5891306" y="10463100"/>
            <a:chExt cx="856239" cy="856239"/>
          </a:xfrm>
        </p:grpSpPr>
        <p:sp>
          <p:nvSpPr>
            <p:cNvPr id="42" name="Oval 41"/>
            <p:cNvSpPr/>
            <p:nvPr/>
          </p:nvSpPr>
          <p:spPr>
            <a:xfrm>
              <a:off x="5891306" y="10463100"/>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91306" y="10463100"/>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29</a:t>
              </a:r>
            </a:p>
          </p:txBody>
        </p:sp>
      </p:grpSp>
      <p:sp>
        <p:nvSpPr>
          <p:cNvPr id="45" name="TextBox 44"/>
          <p:cNvSpPr txBox="1"/>
          <p:nvPr/>
        </p:nvSpPr>
        <p:spPr>
          <a:xfrm>
            <a:off x="1613309" y="12071820"/>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קצין מיון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קצין מיון - לשוניות</a:t>
            </a:r>
          </a:p>
        </p:txBody>
      </p:sp>
      <p:sp>
        <p:nvSpPr>
          <p:cNvPr id="46" name="TextBox 45"/>
          <p:cNvSpPr txBox="1"/>
          <p:nvPr/>
        </p:nvSpPr>
        <p:spPr>
          <a:xfrm>
            <a:off x="1676400" y="12463105"/>
            <a:ext cx="5559802"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תוקן באג שהפך את כפתור האיפוס לשוניות ללא לחיץ בעת פתיחת לשונית.</a:t>
            </a:r>
          </a:p>
        </p:txBody>
      </p:sp>
      <p:cxnSp>
        <p:nvCxnSpPr>
          <p:cNvPr id="47" name="Connector 46"/>
          <p:cNvCxnSpPr/>
          <p:nvPr/>
        </p:nvCxnSpPr>
        <p:spPr>
          <a:xfrm>
            <a:off x="1077244" y="11844808"/>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055851" y="13799607"/>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51" name="Group 50"/>
          <p:cNvGrpSpPr/>
          <p:nvPr/>
        </p:nvGrpSpPr>
        <p:grpSpPr>
          <a:xfrm>
            <a:off x="649125" y="12394801"/>
            <a:ext cx="856239" cy="856239"/>
            <a:chOff x="649125" y="12394801"/>
            <a:chExt cx="856239" cy="856239"/>
          </a:xfrm>
        </p:grpSpPr>
        <p:sp>
          <p:nvSpPr>
            <p:cNvPr id="49" name="Oval 48"/>
            <p:cNvSpPr/>
            <p:nvPr/>
          </p:nvSpPr>
          <p:spPr>
            <a:xfrm>
              <a:off x="649125" y="12394801"/>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9125" y="12394801"/>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30</a:t>
              </a:r>
            </a:p>
          </p:txBody>
        </p:sp>
      </p:grpSp>
      <p:sp>
        <p:nvSpPr>
          <p:cNvPr id="52" name="TextBox 51"/>
          <p:cNvSpPr txBox="1"/>
          <p:nvPr/>
        </p:nvSpPr>
        <p:spPr>
          <a:xfrm>
            <a:off x="224975" y="14002807"/>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קצין מיון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קצין מיון - ארכובים</a:t>
            </a:r>
          </a:p>
        </p:txBody>
      </p:sp>
      <p:sp>
        <p:nvSpPr>
          <p:cNvPr id="53" name="TextBox 52"/>
          <p:cNvSpPr txBox="1"/>
          <p:nvPr/>
        </p:nvSpPr>
        <p:spPr>
          <a:xfrm>
            <a:off x="304800" y="14394092"/>
            <a:ext cx="5383669"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תיקון באג לרשימת מספרים במסה שכללה מ.א עם סו"ש חריג וגרמה לתצוגה שגויה של ארכובים.</a:t>
            </a:r>
          </a:p>
        </p:txBody>
      </p:sp>
      <p:cxnSp>
        <p:nvCxnSpPr>
          <p:cNvPr id="54" name="Connector 53"/>
          <p:cNvCxnSpPr/>
          <p:nvPr/>
        </p:nvCxnSpPr>
        <p:spPr>
          <a:xfrm>
            <a:off x="6319424" y="13775794"/>
            <a:ext cx="0" cy="195480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55850" y="15737851"/>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58" name="Group 57"/>
          <p:cNvGrpSpPr/>
          <p:nvPr/>
        </p:nvGrpSpPr>
        <p:grpSpPr>
          <a:xfrm>
            <a:off x="5891305" y="14325074"/>
            <a:ext cx="856239" cy="856239"/>
            <a:chOff x="5891305" y="14325074"/>
            <a:chExt cx="856239" cy="856239"/>
          </a:xfrm>
        </p:grpSpPr>
        <p:sp>
          <p:nvSpPr>
            <p:cNvPr id="56" name="Oval 55"/>
            <p:cNvSpPr/>
            <p:nvPr/>
          </p:nvSpPr>
          <p:spPr>
            <a:xfrm>
              <a:off x="5891305" y="14325074"/>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891305" y="14325074"/>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31</a:t>
              </a:r>
            </a:p>
          </p:txBody>
        </p:sp>
      </p:grpSp>
      <p:sp>
        <p:nvSpPr>
          <p:cNvPr id="59" name="TextBox 58"/>
          <p:cNvSpPr txBox="1"/>
          <p:nvPr/>
        </p:nvSpPr>
        <p:spPr>
          <a:xfrm>
            <a:off x="1613309" y="15941051"/>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קצין מיון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שיקולים - מצב צפיה</a:t>
            </a:r>
          </a:p>
        </p:txBody>
      </p:sp>
      <p:sp>
        <p:nvSpPr>
          <p:cNvPr id="60" name="TextBox 59"/>
          <p:cNvSpPr txBox="1"/>
          <p:nvPr/>
        </p:nvSpPr>
        <p:spPr>
          <a:xfrm>
            <a:off x="1457631" y="16332336"/>
            <a:ext cx="5559802"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הוספת פיצ'ר לאחראים - כעת בעלי רול אחראי יכולים להגיב על שיקולים גם ממצב צפייה.</a:t>
            </a:r>
          </a:p>
        </p:txBody>
      </p:sp>
      <p:cxnSp>
        <p:nvCxnSpPr>
          <p:cNvPr id="61" name="Connector 60"/>
          <p:cNvCxnSpPr/>
          <p:nvPr/>
        </p:nvCxnSpPr>
        <p:spPr>
          <a:xfrm>
            <a:off x="1077242" y="15714039"/>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55850" y="17670265"/>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65" name="Group 64"/>
          <p:cNvGrpSpPr/>
          <p:nvPr/>
        </p:nvGrpSpPr>
        <p:grpSpPr>
          <a:xfrm>
            <a:off x="649123" y="16264032"/>
            <a:ext cx="856239" cy="856239"/>
            <a:chOff x="649123" y="16264032"/>
            <a:chExt cx="856239" cy="856239"/>
          </a:xfrm>
        </p:grpSpPr>
        <p:sp>
          <p:nvSpPr>
            <p:cNvPr id="63" name="Oval 62"/>
            <p:cNvSpPr/>
            <p:nvPr/>
          </p:nvSpPr>
          <p:spPr>
            <a:xfrm>
              <a:off x="649123" y="16264032"/>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9123" y="16264032"/>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32</a:t>
              </a:r>
            </a:p>
          </p:txBody>
        </p:sp>
      </p:grpSp>
      <p:cxnSp>
        <p:nvCxnSpPr>
          <p:cNvPr id="66" name="Connector 65"/>
          <p:cNvCxnSpPr/>
          <p:nvPr/>
        </p:nvCxnSpPr>
        <p:spPr>
          <a:xfrm>
            <a:off x="6319423" y="17646452"/>
            <a:ext cx="0" cy="468000"/>
          </a:xfrm>
          <a:prstGeom prst="line">
            <a:avLst/>
          </a:prstGeom>
          <a:ln w="63500">
            <a:solidFill>
              <a:srgbClr val="004AAD"/>
            </a:solidFill>
          </a:ln>
          <a:effectLst>
            <a:reflection blurRad="6350" stA="50000" stPos="0" endA="300" endPos="35000" dist="0" dir="5400000" fadeDir="5400000" sy="-100000" algn="bl" rotWithShape="0"/>
          </a:effectLst>
        </p:spPr>
        <p:style>
          <a:lnRef idx="2">
            <a:schemeClr val="accent1"/>
          </a:lnRef>
          <a:fillRef idx="0">
            <a:schemeClr val="accent1"/>
          </a:fillRef>
          <a:effectRef idx="1">
            <a:schemeClr val="accent1"/>
          </a:effectRef>
          <a:fontRef idx="minor">
            <a:schemeClr val="tx1"/>
          </a:fontRef>
        </p:style>
      </p:cxnSp>
      <p:pic>
        <p:nvPicPr>
          <p:cNvPr id="67" name="Picture 66" descr="PicturePeople.png"/>
          <p:cNvPicPr>
            <a:picLocks noChangeAspect="1"/>
          </p:cNvPicPr>
          <p:nvPr/>
        </p:nvPicPr>
        <p:blipFill>
          <a:blip r:embed="rId4"/>
          <a:stretch>
            <a:fillRect/>
          </a:stretch>
        </p:blipFill>
        <p:spPr>
          <a:xfrm>
            <a:off x="28789" y="17368014"/>
            <a:ext cx="2129096" cy="168198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5FA"/>
        </a:solidFill>
        <a:effectLst/>
      </p:bgPr>
    </p:bg>
    <p:spTree>
      <p:nvGrpSpPr>
        <p:cNvPr id="1" name=""/>
        <p:cNvGrpSpPr/>
        <p:nvPr/>
      </p:nvGrpSpPr>
      <p:grpSpPr/>
      <p:sp>
        <p:nvSpPr>
          <p:cNvPr id="2" name="Rectangle 1"/>
          <p:cNvSpPr/>
          <p:nvPr/>
        </p:nvSpPr>
        <p:spPr>
          <a:xfrm>
            <a:off x="129294" y="300068"/>
            <a:ext cx="7361412" cy="226594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ictureLogo.png"/>
          <p:cNvPicPr>
            <a:picLocks noChangeAspect="1"/>
          </p:cNvPicPr>
          <p:nvPr/>
        </p:nvPicPr>
        <p:blipFill>
          <a:blip r:embed="rId2"/>
          <a:stretch>
            <a:fillRect/>
          </a:stretch>
        </p:blipFill>
        <p:spPr>
          <a:xfrm>
            <a:off x="129294" y="311007"/>
            <a:ext cx="1072462" cy="1201987"/>
          </a:xfrm>
          <a:prstGeom prst="rect">
            <a:avLst/>
          </a:prstGeom>
        </p:spPr>
      </p:pic>
      <p:pic>
        <p:nvPicPr>
          <p:cNvPr id="4" name="Picture 3" descr="PictureShield.png"/>
          <p:cNvPicPr>
            <a:picLocks noChangeAspect="1"/>
          </p:cNvPicPr>
          <p:nvPr/>
        </p:nvPicPr>
        <p:blipFill>
          <a:blip r:embed="rId3"/>
          <a:stretch>
            <a:fillRect/>
          </a:stretch>
        </p:blipFill>
        <p:spPr>
          <a:xfrm>
            <a:off x="6761525" y="462339"/>
            <a:ext cx="638880" cy="899321"/>
          </a:xfrm>
          <a:prstGeom prst="rect">
            <a:avLst/>
          </a:prstGeom>
        </p:spPr>
      </p:pic>
      <p:sp>
        <p:nvSpPr>
          <p:cNvPr id="5" name="Rectangle 4"/>
          <p:cNvSpPr/>
          <p:nvPr/>
        </p:nvSpPr>
        <p:spPr>
          <a:xfrm>
            <a:off x="-134306" y="18432419"/>
            <a:ext cx="7888611" cy="757937"/>
          </a:xfrm>
          <a:prstGeom prst="rect">
            <a:avLst/>
          </a:prstGeom>
          <a:solidFill>
            <a:srgbClr val="5F90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2460" y="503130"/>
            <a:ext cx="6096000" cy="820738"/>
          </a:xfrm>
          <a:prstGeom prst="rect">
            <a:avLst/>
          </a:prstGeom>
          <a:noFill/>
        </p:spPr>
        <p:txBody>
          <a:bodyPr wrap="square">
            <a:noAutofit/>
          </a:bodyPr>
          <a:lstStyle/>
          <a:p>
            <a:pPr rtl="1" algn="ctr">
              <a:lnSpc>
                <a:spcPts val="6400"/>
              </a:lnSpc>
            </a:pPr>
            <a:r>
              <a:rPr sz="6400" b="1" lang="he-IL">
                <a:solidFill>
                  <a:srgbClr val="1E2E5D"/>
                </a:solidFill>
                <a:latin typeface="Choco Bold"/>
                <a:cs typeface="Choco Bold"/>
                <a:ea typeface="Choco Bold"/>
              </a:rPr>
              <a:t>מה חדש ב</a:t>
            </a:r>
            <a:r>
              <a:rPr sz="6400" b="1" lang="en-US">
                <a:solidFill>
                  <a:srgbClr val="1E2E5D"/>
                </a:solidFill>
                <a:latin typeface="Cascadia Mono SemiBold"/>
                <a:cs typeface="Cascadia Mono SemiBold"/>
                <a:ea typeface="Cascadia Mono SemiBold"/>
              </a:rPr>
              <a:t>SAP</a:t>
            </a:r>
            <a:r>
              <a:rPr sz="6400" b="1" lang="ar-EG">
                <a:solidFill>
                  <a:srgbClr val="1E2E5D"/>
                </a:solidFill>
                <a:latin typeface="Choco Bold"/>
                <a:cs typeface="Choco Bold"/>
                <a:ea typeface="Choco Bold"/>
              </a:rPr>
              <a:t>?</a:t>
            </a:r>
          </a:p>
        </p:txBody>
      </p:sp>
      <p:sp>
        <p:nvSpPr>
          <p:cNvPr id="7" name="TextBox 6"/>
          <p:cNvSpPr txBox="1"/>
          <p:nvPr/>
        </p:nvSpPr>
        <p:spPr>
          <a:xfrm>
            <a:off x="683920" y="1479693"/>
            <a:ext cx="6096000" cy="589905"/>
          </a:xfrm>
          <a:prstGeom prst="rect">
            <a:avLst/>
          </a:prstGeom>
          <a:noFill/>
        </p:spPr>
        <p:txBody>
          <a:bodyPr wrap="square">
            <a:noAutofit/>
          </a:bodyPr>
          <a:lstStyle/>
          <a:p>
            <a:pPr rtl="1" algn="ctr">
              <a:lnSpc>
                <a:spcPts val="2300"/>
              </a:lnSpc>
            </a:pPr>
            <a:r>
              <a:rPr sz="2300" b="1" lang="he-IL">
                <a:solidFill>
                  <a:srgbClr val="3A4F8B"/>
                </a:solidFill>
                <a:latin typeface="Segoe UI"/>
                <a:cs typeface="Segoe UI"/>
                <a:ea typeface="Segoe UI"/>
              </a:rPr>
              <a:t>גרסת אוגוסט </a:t>
            </a:r>
            <a:r>
              <a:rPr sz="2300" b="1" lang="en-US">
                <a:solidFill>
                  <a:srgbClr val="3A4F8B"/>
                </a:solidFill>
                <a:latin typeface="Segoe UI"/>
                <a:cs typeface="Segoe UI"/>
                <a:ea typeface="Segoe UI"/>
              </a:rPr>
              <a:t>2026</a:t>
            </a:r>
            <a:r>
              <a:rPr sz="2300" b="1" lang="he-IL">
                <a:solidFill>
                  <a:srgbClr val="3A4F8B"/>
                </a:solidFill>
                <a:latin typeface="Segoe UI"/>
                <a:cs typeface="Segoe UI"/>
                <a:ea typeface="Segoe UI"/>
              </a:rPr>
              <a:t> - מועד עליה 16/9/26</a:t>
            </a:r>
            <a:r>
              <a:rPr sz="2300" b="1" lang="ar-EG">
                <a:solidFill>
                  <a:srgbClr val="3A4F8B"/>
                </a:solidFill>
                <a:latin typeface="Segoe UI"/>
                <a:cs typeface="Segoe UI"/>
                <a:ea typeface="Segoe UI"/>
              </a:rPr>
              <a:t> </a:t>
            </a:r>
            <a:r>
              <a:rPr sz="2300" b="1" lang="he-IL">
                <a:solidFill>
                  <a:srgbClr val="68BBE3"/>
                </a:solidFill>
                <a:latin typeface="Segoe UI"/>
                <a:cs typeface="Segoe UI"/>
                <a:ea typeface="Segoe UI"/>
              </a:rPr>
              <a:t>
מדור מע”מ</a:t>
            </a:r>
          </a:p>
        </p:txBody>
      </p:sp>
      <p:sp>
        <p:nvSpPr>
          <p:cNvPr id="8" name="TextBox 7"/>
          <p:cNvSpPr txBox="1"/>
          <p:nvPr/>
        </p:nvSpPr>
        <p:spPr>
          <a:xfrm>
            <a:off x="684575" y="2139975"/>
            <a:ext cx="6096000" cy="261867"/>
          </a:xfrm>
          <a:prstGeom prst="rect">
            <a:avLst/>
          </a:prstGeom>
          <a:noFill/>
        </p:spPr>
        <p:txBody>
          <a:bodyPr wrap="square">
            <a:noAutofit/>
          </a:bodyPr>
          <a:lstStyle/>
          <a:p>
            <a:pPr rtl="1" algn="ctr"/>
            <a:r>
              <a:rPr sz="1400" b="1" lang="he-IL">
                <a:solidFill>
                  <a:srgbClr val="3A4F8B"/>
                </a:solidFill>
                <a:latin typeface="Segoe UI"/>
                <a:cs typeface="Segoe UI"/>
                <a:ea typeface="Segoe UI"/>
              </a:rPr>
              <a:t>גרסאות עתידיות 21/10/26 + 7/10/26</a:t>
            </a:r>
          </a:p>
        </p:txBody>
      </p:sp>
      <p:sp>
        <p:nvSpPr>
          <p:cNvPr id="9" name="TextBox 8"/>
          <p:cNvSpPr txBox="1"/>
          <p:nvPr/>
        </p:nvSpPr>
        <p:spPr>
          <a:xfrm>
            <a:off x="0" y="18570540"/>
            <a:ext cx="7620000" cy="296235"/>
          </a:xfrm>
          <a:prstGeom prst="rect">
            <a:avLst/>
          </a:prstGeom>
          <a:noFill/>
        </p:spPr>
        <p:txBody>
          <a:bodyPr wrap="square">
            <a:noAutofit/>
          </a:bodyPr>
          <a:lstStyle/>
          <a:p>
            <a:pPr rtl="1" algn="ctr"/>
            <a:r>
              <a:rPr sz="1700" b="1" lang="he-IL">
                <a:solidFill>
                  <a:srgbClr val="FFFFFF"/>
                </a:solidFill>
                <a:latin typeface="Guttman Yad-Brush"/>
                <a:cs typeface="Guttman Yad-Brush"/>
                <a:ea typeface="Guttman Yad-Brush"/>
              </a:rPr>
              <a:t>כשטכנולוגיה פוגשת אנשים</a:t>
            </a:r>
          </a:p>
        </p:txBody>
      </p:sp>
      <p:sp>
        <p:nvSpPr>
          <p:cNvPr id="10" name="TextBox 9"/>
          <p:cNvSpPr txBox="1"/>
          <p:nvPr/>
        </p:nvSpPr>
        <p:spPr>
          <a:xfrm>
            <a:off x="218909" y="2769217"/>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קצין מיון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שיקולים - תוצגת קבלת שיקול</a:t>
            </a:r>
          </a:p>
        </p:txBody>
      </p:sp>
      <p:sp>
        <p:nvSpPr>
          <p:cNvPr id="11" name="TextBox 10"/>
          <p:cNvSpPr txBox="1"/>
          <p:nvPr/>
        </p:nvSpPr>
        <p:spPr>
          <a:xfrm>
            <a:off x="539083" y="3160502"/>
            <a:ext cx="5143320" cy="1316736"/>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תיקון באג בו בעת קבלת הודעה/שיקול חדש התצוגה ישר הייתה עוברת לשיקול/ההודעה שהתקבלו ומסיטה מהצ'אט של השיקול הנוכחי.</a:t>
            </a:r>
          </a:p>
        </p:txBody>
      </p:sp>
      <p:cxnSp>
        <p:nvCxnSpPr>
          <p:cNvPr id="12" name="Connector 11"/>
          <p:cNvCxnSpPr/>
          <p:nvPr/>
        </p:nvCxnSpPr>
        <p:spPr>
          <a:xfrm>
            <a:off x="6323881" y="3438646"/>
            <a:ext cx="0" cy="748753"/>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60308" y="4163587"/>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16" name="Group 15"/>
          <p:cNvGrpSpPr/>
          <p:nvPr/>
        </p:nvGrpSpPr>
        <p:grpSpPr>
          <a:xfrm>
            <a:off x="5895762" y="3384903"/>
            <a:ext cx="856239" cy="856239"/>
            <a:chOff x="5895762" y="3384903"/>
            <a:chExt cx="856239" cy="856239"/>
          </a:xfrm>
        </p:grpSpPr>
        <p:sp>
          <p:nvSpPr>
            <p:cNvPr id="14" name="Oval 13"/>
            <p:cNvSpPr/>
            <p:nvPr/>
          </p:nvSpPr>
          <p:spPr>
            <a:xfrm>
              <a:off x="5895762" y="3384903"/>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5762" y="3384903"/>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33</a:t>
              </a:r>
            </a:p>
          </p:txBody>
        </p:sp>
      </p:grpSp>
      <p:sp>
        <p:nvSpPr>
          <p:cNvPr id="17" name="TextBox 16"/>
          <p:cNvSpPr txBox="1"/>
          <p:nvPr/>
        </p:nvSpPr>
        <p:spPr>
          <a:xfrm>
            <a:off x="1617765" y="4366787"/>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קצין מיון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שינוי עיצוב - חלונית חיפוש חיילים</a:t>
            </a:r>
          </a:p>
        </p:txBody>
      </p:sp>
      <p:sp>
        <p:nvSpPr>
          <p:cNvPr id="18" name="TextBox 17"/>
          <p:cNvSpPr txBox="1"/>
          <p:nvPr/>
        </p:nvSpPr>
        <p:spPr>
          <a:xfrm>
            <a:off x="1521457" y="4758072"/>
            <a:ext cx="5559802"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תוקן העיצוב של חלונית חיפוש חיילים בעלי שם דומה בפורמט העיצוב החדש.</a:t>
            </a:r>
          </a:p>
        </p:txBody>
      </p:sp>
      <p:cxnSp>
        <p:nvCxnSpPr>
          <p:cNvPr id="19" name="Connector 18"/>
          <p:cNvCxnSpPr/>
          <p:nvPr/>
        </p:nvCxnSpPr>
        <p:spPr>
          <a:xfrm>
            <a:off x="1081700" y="4139775"/>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60308" y="6096001"/>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23" name="Group 22"/>
          <p:cNvGrpSpPr/>
          <p:nvPr/>
        </p:nvGrpSpPr>
        <p:grpSpPr>
          <a:xfrm>
            <a:off x="653581" y="4689768"/>
            <a:ext cx="856239" cy="856239"/>
            <a:chOff x="653581" y="4689768"/>
            <a:chExt cx="856239" cy="856239"/>
          </a:xfrm>
        </p:grpSpPr>
        <p:sp>
          <p:nvSpPr>
            <p:cNvPr id="21" name="Oval 20"/>
            <p:cNvSpPr/>
            <p:nvPr/>
          </p:nvSpPr>
          <p:spPr>
            <a:xfrm>
              <a:off x="653581" y="4689768"/>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581" y="4689768"/>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34</a:t>
              </a:r>
            </a:p>
          </p:txBody>
        </p:sp>
      </p:grpSp>
      <p:sp>
        <p:nvSpPr>
          <p:cNvPr id="24" name="TextBox 23"/>
          <p:cNvSpPr txBox="1"/>
          <p:nvPr/>
        </p:nvSpPr>
        <p:spPr>
          <a:xfrm>
            <a:off x="164917" y="6299201"/>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קצין מיון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שינוי עיצוב - תוספות - טולטיפים</a:t>
            </a:r>
          </a:p>
        </p:txBody>
      </p:sp>
      <p:sp>
        <p:nvSpPr>
          <p:cNvPr id="25" name="TextBox 24"/>
          <p:cNvSpPr txBox="1"/>
          <p:nvPr/>
        </p:nvSpPr>
        <p:spPr>
          <a:xfrm>
            <a:off x="571680" y="6690486"/>
            <a:ext cx="5143320"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תוקן העיצוב של חלוניות הטולטיפ (החלוניות שקופצות במעבר עכבר) בפורמט העיצוב החדש.</a:t>
            </a:r>
          </a:p>
        </p:txBody>
      </p:sp>
      <p:cxnSp>
        <p:nvCxnSpPr>
          <p:cNvPr id="26" name="Connector 25"/>
          <p:cNvCxnSpPr/>
          <p:nvPr/>
        </p:nvCxnSpPr>
        <p:spPr>
          <a:xfrm>
            <a:off x="6323881" y="6072188"/>
            <a:ext cx="0" cy="195480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55852" y="8005218"/>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30" name="Group 29"/>
          <p:cNvGrpSpPr/>
          <p:nvPr/>
        </p:nvGrpSpPr>
        <p:grpSpPr>
          <a:xfrm>
            <a:off x="5895762" y="6621468"/>
            <a:ext cx="856239" cy="856239"/>
            <a:chOff x="5895762" y="6621468"/>
            <a:chExt cx="856239" cy="856239"/>
          </a:xfrm>
        </p:grpSpPr>
        <p:sp>
          <p:nvSpPr>
            <p:cNvPr id="28" name="Oval 27"/>
            <p:cNvSpPr/>
            <p:nvPr/>
          </p:nvSpPr>
          <p:spPr>
            <a:xfrm>
              <a:off x="5895762" y="6621468"/>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95762" y="6621468"/>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35</a:t>
              </a:r>
            </a:p>
          </p:txBody>
        </p:sp>
      </p:grpSp>
      <p:sp>
        <p:nvSpPr>
          <p:cNvPr id="31" name="TextBox 30"/>
          <p:cNvSpPr txBox="1"/>
          <p:nvPr/>
        </p:nvSpPr>
        <p:spPr>
          <a:xfrm>
            <a:off x="1377359" y="8208418"/>
            <a:ext cx="5883173" cy="704088"/>
          </a:xfrm>
          <a:prstGeom prst="rect">
            <a:avLst/>
          </a:prstGeom>
          <a:noFill/>
        </p:spPr>
        <p:txBody>
          <a:bodyPr wrap="square">
            <a:spAutoFit/>
          </a:bodyPr>
          <a:lstStyle/>
          <a:p>
            <a:pPr rtl="1" algn="r"/>
            <a:r>
              <a:rPr sz="1800" b="1" lang="he-IL">
                <a:solidFill>
                  <a:srgbClr val="004AAD"/>
                </a:solidFill>
                <a:latin typeface="Segoe UI"/>
                <a:cs typeface="Segoe UI"/>
                <a:ea typeface="Segoe UI"/>
              </a:rPr>
              <a:t>קצין מיון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שינוי עיצוב - תוספות - טולטיפ התאמות במסה</a:t>
            </a:r>
          </a:p>
        </p:txBody>
      </p:sp>
      <p:sp>
        <p:nvSpPr>
          <p:cNvPr id="32" name="TextBox 31"/>
          <p:cNvSpPr txBox="1"/>
          <p:nvPr/>
        </p:nvSpPr>
        <p:spPr>
          <a:xfrm>
            <a:off x="1521457" y="8906027"/>
            <a:ext cx="5559802" cy="1316736"/>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תוקן העיצוב של הטולטיפ (החלונית שקופצת במעבר עכבר) בחלון התאמות במסה עבור יעדים חסרי סוג שיבוץ ומקצוע מקושרים.</a:t>
            </a:r>
          </a:p>
        </p:txBody>
      </p:sp>
      <p:cxnSp>
        <p:nvCxnSpPr>
          <p:cNvPr id="33" name="Connector 32"/>
          <p:cNvCxnSpPr/>
          <p:nvPr/>
        </p:nvCxnSpPr>
        <p:spPr>
          <a:xfrm>
            <a:off x="1077244" y="7981406"/>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55852" y="9937633"/>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37" name="Group 36"/>
          <p:cNvGrpSpPr/>
          <p:nvPr/>
        </p:nvGrpSpPr>
        <p:grpSpPr>
          <a:xfrm>
            <a:off x="649125" y="8531399"/>
            <a:ext cx="856239" cy="856239"/>
            <a:chOff x="649125" y="8531399"/>
            <a:chExt cx="856239" cy="856239"/>
          </a:xfrm>
        </p:grpSpPr>
        <p:sp>
          <p:nvSpPr>
            <p:cNvPr id="35" name="Oval 34"/>
            <p:cNvSpPr/>
            <p:nvPr/>
          </p:nvSpPr>
          <p:spPr>
            <a:xfrm>
              <a:off x="649125" y="8531399"/>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9125" y="8531399"/>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36</a:t>
              </a:r>
            </a:p>
          </p:txBody>
        </p:sp>
      </p:grpSp>
      <p:sp>
        <p:nvSpPr>
          <p:cNvPr id="38" name="TextBox 37"/>
          <p:cNvSpPr txBox="1"/>
          <p:nvPr/>
        </p:nvSpPr>
        <p:spPr>
          <a:xfrm>
            <a:off x="213537" y="10140833"/>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קצין מיון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שינוי עיצוב - תוספות - פופאפים</a:t>
            </a:r>
          </a:p>
        </p:txBody>
      </p:sp>
      <p:sp>
        <p:nvSpPr>
          <p:cNvPr id="39" name="TextBox 38"/>
          <p:cNvSpPr txBox="1"/>
          <p:nvPr/>
        </p:nvSpPr>
        <p:spPr>
          <a:xfrm>
            <a:off x="304800" y="10532118"/>
            <a:ext cx="5372231"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הורדת כפתור מיותר בחלונית הניתוב שקופצת בעת סיום ראיון דרך מודול התחנות.</a:t>
            </a:r>
          </a:p>
        </p:txBody>
      </p:sp>
      <p:cxnSp>
        <p:nvCxnSpPr>
          <p:cNvPr id="40" name="Connector 39"/>
          <p:cNvCxnSpPr/>
          <p:nvPr/>
        </p:nvCxnSpPr>
        <p:spPr>
          <a:xfrm>
            <a:off x="6319425" y="9913820"/>
            <a:ext cx="0" cy="195480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5852" y="11868620"/>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44" name="Group 43"/>
          <p:cNvGrpSpPr/>
          <p:nvPr/>
        </p:nvGrpSpPr>
        <p:grpSpPr>
          <a:xfrm>
            <a:off x="5891306" y="10463100"/>
            <a:ext cx="856239" cy="856239"/>
            <a:chOff x="5891306" y="10463100"/>
            <a:chExt cx="856239" cy="856239"/>
          </a:xfrm>
        </p:grpSpPr>
        <p:sp>
          <p:nvSpPr>
            <p:cNvPr id="42" name="Oval 41"/>
            <p:cNvSpPr/>
            <p:nvPr/>
          </p:nvSpPr>
          <p:spPr>
            <a:xfrm>
              <a:off x="5891306" y="10463100"/>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91306" y="10463100"/>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37</a:t>
              </a:r>
            </a:p>
          </p:txBody>
        </p:sp>
      </p:grpSp>
      <p:sp>
        <p:nvSpPr>
          <p:cNvPr id="45" name="TextBox 44"/>
          <p:cNvSpPr txBox="1"/>
          <p:nvPr/>
        </p:nvSpPr>
        <p:spPr>
          <a:xfrm>
            <a:off x="1613309" y="12071820"/>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קצין מיון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שינוי עיצוב - תוספות - רקע במסך נחיתה</a:t>
            </a:r>
          </a:p>
        </p:txBody>
      </p:sp>
      <p:sp>
        <p:nvSpPr>
          <p:cNvPr id="46" name="TextBox 45"/>
          <p:cNvSpPr txBox="1"/>
          <p:nvPr/>
        </p:nvSpPr>
        <p:spPr>
          <a:xfrm>
            <a:off x="1676400" y="12463105"/>
            <a:ext cx="5559802" cy="499872"/>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תיקונים לתצוגה של הרקע במסך נחיתה .</a:t>
            </a:r>
          </a:p>
        </p:txBody>
      </p:sp>
      <p:cxnSp>
        <p:nvCxnSpPr>
          <p:cNvPr id="47" name="Connector 46"/>
          <p:cNvCxnSpPr/>
          <p:nvPr/>
        </p:nvCxnSpPr>
        <p:spPr>
          <a:xfrm>
            <a:off x="1077244" y="11844808"/>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055851" y="13799607"/>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51" name="Group 50"/>
          <p:cNvGrpSpPr/>
          <p:nvPr/>
        </p:nvGrpSpPr>
        <p:grpSpPr>
          <a:xfrm>
            <a:off x="649125" y="12394801"/>
            <a:ext cx="856239" cy="856239"/>
            <a:chOff x="649125" y="12394801"/>
            <a:chExt cx="856239" cy="856239"/>
          </a:xfrm>
        </p:grpSpPr>
        <p:sp>
          <p:nvSpPr>
            <p:cNvPr id="49" name="Oval 48"/>
            <p:cNvSpPr/>
            <p:nvPr/>
          </p:nvSpPr>
          <p:spPr>
            <a:xfrm>
              <a:off x="649125" y="12394801"/>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9125" y="12394801"/>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38</a:t>
              </a:r>
            </a:p>
          </p:txBody>
        </p:sp>
      </p:grpSp>
      <p:sp>
        <p:nvSpPr>
          <p:cNvPr id="52" name="TextBox 51"/>
          <p:cNvSpPr txBox="1"/>
          <p:nvPr/>
        </p:nvSpPr>
        <p:spPr>
          <a:xfrm>
            <a:off x="224975" y="14002807"/>
            <a:ext cx="5647223" cy="397764"/>
          </a:xfrm>
          <a:prstGeom prst="rect">
            <a:avLst/>
          </a:prstGeom>
          <a:noFill/>
        </p:spPr>
        <p:txBody>
          <a:bodyPr wrap="square">
            <a:spAutoFit/>
          </a:bodyPr>
          <a:lstStyle/>
          <a:p>
            <a:pPr rtl="1" algn="r"/>
            <a:r>
              <a:rPr sz="1800" b="1" lang="he-IL">
                <a:solidFill>
                  <a:srgbClr val="004AAD"/>
                </a:solidFill>
                <a:latin typeface="Segoe UI"/>
                <a:cs typeface="Segoe UI"/>
                <a:ea typeface="Segoe UI"/>
              </a:rPr>
              <a:t>קצין מיון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שינוי עיצוב - תוספות - תיקון יום המאה</a:t>
            </a:r>
          </a:p>
        </p:txBody>
      </p:sp>
      <p:sp>
        <p:nvSpPr>
          <p:cNvPr id="53" name="TextBox 52"/>
          <p:cNvSpPr txBox="1"/>
          <p:nvPr/>
        </p:nvSpPr>
        <p:spPr>
          <a:xfrm>
            <a:off x="304800" y="14394092"/>
            <a:ext cx="5383669"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תיקון באג בו חלק יום המא"ה נשאר פתוח במעבר ממ.א של זכר למ.א של זכר.</a:t>
            </a:r>
          </a:p>
        </p:txBody>
      </p:sp>
      <p:cxnSp>
        <p:nvCxnSpPr>
          <p:cNvPr id="54" name="Connector 53"/>
          <p:cNvCxnSpPr/>
          <p:nvPr/>
        </p:nvCxnSpPr>
        <p:spPr>
          <a:xfrm>
            <a:off x="6319424" y="13775794"/>
            <a:ext cx="0" cy="195480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55850" y="15737851"/>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58" name="Group 57"/>
          <p:cNvGrpSpPr/>
          <p:nvPr/>
        </p:nvGrpSpPr>
        <p:grpSpPr>
          <a:xfrm>
            <a:off x="5891305" y="14325074"/>
            <a:ext cx="856239" cy="856239"/>
            <a:chOff x="5891305" y="14325074"/>
            <a:chExt cx="856239" cy="856239"/>
          </a:xfrm>
        </p:grpSpPr>
        <p:sp>
          <p:nvSpPr>
            <p:cNvPr id="56" name="Oval 55"/>
            <p:cNvSpPr/>
            <p:nvPr/>
          </p:nvSpPr>
          <p:spPr>
            <a:xfrm>
              <a:off x="5891305" y="14325074"/>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891305" y="14325074"/>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39</a:t>
              </a:r>
            </a:p>
          </p:txBody>
        </p:sp>
      </p:grpSp>
      <p:sp>
        <p:nvSpPr>
          <p:cNvPr id="59" name="TextBox 58"/>
          <p:cNvSpPr txBox="1"/>
          <p:nvPr/>
        </p:nvSpPr>
        <p:spPr>
          <a:xfrm>
            <a:off x="1613309" y="15941051"/>
            <a:ext cx="5647223" cy="704088"/>
          </a:xfrm>
          <a:prstGeom prst="rect">
            <a:avLst/>
          </a:prstGeom>
          <a:noFill/>
        </p:spPr>
        <p:txBody>
          <a:bodyPr wrap="square">
            <a:spAutoFit/>
          </a:bodyPr>
          <a:lstStyle/>
          <a:p>
            <a:pPr rtl="1" algn="r"/>
            <a:r>
              <a:rPr sz="1800" b="1" lang="he-IL">
                <a:solidFill>
                  <a:srgbClr val="004AAD"/>
                </a:solidFill>
                <a:latin typeface="Segoe UI"/>
                <a:cs typeface="Segoe UI"/>
                <a:ea typeface="Segoe UI"/>
              </a:rPr>
              <a:t>שרשרת החיול </a:t>
            </a:r>
            <a:r>
              <a:rPr sz="1800" b="1" lang="ar-EG">
                <a:solidFill>
                  <a:srgbClr val="2479DF"/>
                </a:solidFill>
                <a:latin typeface="Segoe UI"/>
                <a:cs typeface="Segoe UI"/>
                <a:ea typeface="Segoe UI"/>
              </a:rPr>
              <a:t>|</a:t>
            </a:r>
            <a:r>
              <a:rPr sz="1800" b="1" lang="ar-EG">
                <a:solidFill>
                  <a:srgbClr val="38B6FF"/>
                </a:solidFill>
                <a:latin typeface="Segoe UI"/>
                <a:cs typeface="Segoe UI"/>
                <a:ea typeface="Segoe UI"/>
              </a:rPr>
              <a:t> </a:t>
            </a:r>
            <a:r>
              <a:rPr sz="1800" b="1" lang="he-IL">
                <a:solidFill>
                  <a:srgbClr val="79A5DF"/>
                </a:solidFill>
                <a:latin typeface="Segoe UI"/>
                <a:cs typeface="Segoe UI"/>
                <a:ea typeface="Segoe UI"/>
              </a:rPr>
              <a:t>עדכון טרנזקציה ZHR_STATIONS_SHR</a:t>
            </a:r>
          </a:p>
        </p:txBody>
      </p:sp>
      <p:sp>
        <p:nvSpPr>
          <p:cNvPr id="60" name="TextBox 59"/>
          <p:cNvSpPr txBox="1"/>
          <p:nvPr/>
        </p:nvSpPr>
        <p:spPr>
          <a:xfrm>
            <a:off x="1457631" y="16638660"/>
            <a:ext cx="5559802" cy="908304"/>
          </a:xfrm>
          <a:prstGeom prst="rect">
            <a:avLst/>
          </a:prstGeom>
          <a:noFill/>
        </p:spPr>
        <p:txBody>
          <a:bodyPr wrap="square">
            <a:spAutoFit/>
          </a:bodyPr>
          <a:lstStyle/>
          <a:p>
            <a:pPr rtl="1" algn="r">
              <a:lnSpc>
                <a:spcPct val="150000"/>
              </a:lnSpc>
            </a:pPr>
            <a:r>
              <a:rPr sz="1600" b="0" lang="he-IL">
                <a:solidFill>
                  <a:srgbClr val="000000"/>
                </a:solidFill>
                <a:latin typeface="Segoe UI"/>
                <a:cs typeface="Segoe UI"/>
                <a:ea typeface="Segoe UI"/>
              </a:rPr>
              <a:t>שינוי חיפוש טרנזקציית מודול התחנות בסאפ כך שתיפתח ב-ECC במקום ב-GW.</a:t>
            </a:r>
          </a:p>
        </p:txBody>
      </p:sp>
      <p:cxnSp>
        <p:nvCxnSpPr>
          <p:cNvPr id="61" name="Connector 60"/>
          <p:cNvCxnSpPr/>
          <p:nvPr/>
        </p:nvCxnSpPr>
        <p:spPr>
          <a:xfrm>
            <a:off x="1077242" y="15714039"/>
            <a:ext cx="0" cy="1956226"/>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55850" y="17670265"/>
            <a:ext cx="5282623" cy="0"/>
          </a:xfrm>
          <a:prstGeom prst="line">
            <a:avLst/>
          </a:prstGeom>
          <a:ln w="63500">
            <a:solidFill>
              <a:srgbClr val="004AAD"/>
            </a:solidFill>
          </a:ln>
        </p:spPr>
        <p:style>
          <a:lnRef idx="2">
            <a:schemeClr val="accent1"/>
          </a:lnRef>
          <a:fillRef idx="0">
            <a:schemeClr val="accent1"/>
          </a:fillRef>
          <a:effectRef idx="1">
            <a:schemeClr val="accent1"/>
          </a:effectRef>
          <a:fontRef idx="minor">
            <a:schemeClr val="tx1"/>
          </a:fontRef>
        </p:style>
      </p:cxnSp>
      <p:grpSp>
        <p:nvGrpSpPr>
          <p:cNvPr id="65" name="Group 64"/>
          <p:cNvGrpSpPr/>
          <p:nvPr/>
        </p:nvGrpSpPr>
        <p:grpSpPr>
          <a:xfrm>
            <a:off x="649123" y="16264032"/>
            <a:ext cx="856239" cy="856239"/>
            <a:chOff x="649123" y="16264032"/>
            <a:chExt cx="856239" cy="856239"/>
          </a:xfrm>
        </p:grpSpPr>
        <p:sp>
          <p:nvSpPr>
            <p:cNvPr id="63" name="Oval 62"/>
            <p:cNvSpPr/>
            <p:nvPr/>
          </p:nvSpPr>
          <p:spPr>
            <a:xfrm>
              <a:off x="649123" y="16264032"/>
              <a:ext cx="856239" cy="856239"/>
            </a:xfrm>
            <a:prstGeom prst="ellipse">
              <a:avLst/>
            </a:prstGeom>
            <a:solidFill>
              <a:srgbClr val="BCDDFF"/>
            </a:solidFill>
            <a:ln w="47625">
              <a:solidFill>
                <a:srgbClr val="79A5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9123" y="16264032"/>
              <a:ext cx="856239" cy="856239"/>
            </a:xfrm>
            <a:prstGeom prst="rect">
              <a:avLst/>
            </a:prstGeom>
            <a:noFill/>
          </p:spPr>
          <p:txBody>
            <a:bodyPr wrap="none" anchor="ctr">
              <a:spAutoFit/>
            </a:bodyPr>
            <a:lstStyle/>
            <a:p>
              <a:pPr algn="ctr"/>
              <a:r>
                <a:rPr sz="2800" b="1" lang="he-IL">
                  <a:solidFill>
                    <a:srgbClr val="004AAD"/>
                  </a:solidFill>
                  <a:latin typeface="Prachason Neue SemiExpanded Bold"/>
                  <a:cs typeface="Prachason Neue SemiExpanded Bold"/>
                  <a:ea typeface="Prachason Neue SemiExpanded Bold"/>
                </a:rPr>
                <a:t>40</a:t>
              </a:r>
            </a:p>
          </p:txBody>
        </p:sp>
      </p:grpSp>
      <p:cxnSp>
        <p:nvCxnSpPr>
          <p:cNvPr id="66" name="Connector 65"/>
          <p:cNvCxnSpPr/>
          <p:nvPr/>
        </p:nvCxnSpPr>
        <p:spPr>
          <a:xfrm>
            <a:off x="6319423" y="17646452"/>
            <a:ext cx="0" cy="468000"/>
          </a:xfrm>
          <a:prstGeom prst="line">
            <a:avLst/>
          </a:prstGeom>
          <a:ln w="63500">
            <a:solidFill>
              <a:srgbClr val="004AAD"/>
            </a:solidFill>
          </a:ln>
          <a:effectLst>
            <a:reflection blurRad="6350" stA="50000" stPos="0" endA="300" endPos="35000" dist="0" dir="5400000" fadeDir="5400000" sy="-100000" algn="bl" rotWithShape="0"/>
          </a:effectLst>
        </p:spPr>
        <p:style>
          <a:lnRef idx="2">
            <a:schemeClr val="accent1"/>
          </a:lnRef>
          <a:fillRef idx="0">
            <a:schemeClr val="accent1"/>
          </a:fillRef>
          <a:effectRef idx="1">
            <a:schemeClr val="accent1"/>
          </a:effectRef>
          <a:fontRef idx="minor">
            <a:schemeClr val="tx1"/>
          </a:fontRef>
        </p:style>
      </p:cxnSp>
      <p:pic>
        <p:nvPicPr>
          <p:cNvPr id="67" name="Picture 66" descr="PicturePeople.png"/>
          <p:cNvPicPr>
            <a:picLocks noChangeAspect="1"/>
          </p:cNvPicPr>
          <p:nvPr/>
        </p:nvPicPr>
        <p:blipFill>
          <a:blip r:embed="rId4"/>
          <a:stretch>
            <a:fillRect/>
          </a:stretch>
        </p:blipFill>
        <p:spPr>
          <a:xfrm>
            <a:off x="28789" y="17368014"/>
            <a:ext cx="2129096" cy="168198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